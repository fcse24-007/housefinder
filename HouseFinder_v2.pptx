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slideMasters/slideMaster1.xml" ContentType="application/vnd.openxmlformats-officedocument.presentationml.slideMaster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59" r:id="rId6"/>
    <p:sldId id="260" r:id="rId7"/>
  </p:sldIdLst>
  <p:sldSz cx="9144000" cy="5143500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5961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60729680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763022313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830431163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07583686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9437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067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4078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375204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54806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75926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586404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1345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29487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51767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67317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16417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36904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71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5848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8213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0D1B2A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533949" name="Shape 0"/>
          <p:cNvSpPr/>
          <p:nvPr/>
        </p:nvSpPr>
        <p:spPr bwMode="auto">
          <a:xfrm>
            <a:off x="0" y="0"/>
            <a:ext cx="6400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31625741" name="Shape 1"/>
          <p:cNvSpPr/>
          <p:nvPr/>
        </p:nvSpPr>
        <p:spPr bwMode="auto">
          <a:xfrm>
            <a:off x="274320" y="347472"/>
            <a:ext cx="1828800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0429506" name="Text 2"/>
          <p:cNvSpPr/>
          <p:nvPr/>
        </p:nvSpPr>
        <p:spPr bwMode="auto">
          <a:xfrm>
            <a:off x="274320" y="347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8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ANDROID APPLICATION</a:t>
            </a:r>
            <a:endParaRPr lang="en-US" sz="850"/>
          </a:p>
        </p:txBody>
      </p:sp>
      <p:sp>
        <p:nvSpPr>
          <p:cNvPr id="1380683163" name="Text 3"/>
          <p:cNvSpPr/>
          <p:nvPr/>
        </p:nvSpPr>
        <p:spPr bwMode="auto">
          <a:xfrm>
            <a:off x="274320" y="749808"/>
            <a:ext cx="53035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5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HouseFinder</a:t>
            </a:r>
            <a:endParaRPr lang="en-US" sz="5400"/>
          </a:p>
        </p:txBody>
      </p:sp>
      <p:sp>
        <p:nvSpPr>
          <p:cNvPr id="109713531" name="Text 4"/>
          <p:cNvSpPr/>
          <p:nvPr/>
        </p:nvSpPr>
        <p:spPr bwMode="auto">
          <a:xfrm>
            <a:off x="274320" y="166420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2000" i="1">
                <a:solidFill>
                  <a:srgbClr val="14B8A6"/>
                </a:solidFill>
                <a:latin typeface="Georgia"/>
                <a:ea typeface="Georgia"/>
                <a:cs typeface="Georgia"/>
              </a:rPr>
              <a:t>Bridging the Gap in Real Estate Discovery</a:t>
            </a:r>
            <a:endParaRPr lang="en-US" sz="2000"/>
          </a:p>
        </p:txBody>
      </p:sp>
      <p:sp>
        <p:nvSpPr>
          <p:cNvPr id="970652958" name="Shape 5"/>
          <p:cNvSpPr/>
          <p:nvPr/>
        </p:nvSpPr>
        <p:spPr bwMode="auto">
          <a:xfrm>
            <a:off x="274320" y="2304288"/>
            <a:ext cx="5303520" cy="228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49896893" name="Text 6"/>
          <p:cNvSpPr/>
          <p:nvPr/>
        </p:nvSpPr>
        <p:spPr bwMode="auto">
          <a:xfrm>
            <a:off x="274320" y="24505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Core Stack</a:t>
            </a:r>
            <a:endParaRPr lang="en-US" sz="1100"/>
          </a:p>
        </p:txBody>
      </p:sp>
      <p:sp>
        <p:nvSpPr>
          <p:cNvPr id="628190049" name="Shape 7"/>
          <p:cNvSpPr/>
          <p:nvPr/>
        </p:nvSpPr>
        <p:spPr bwMode="auto">
          <a:xfrm>
            <a:off x="274320" y="279806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84820368" name="Text 8"/>
          <p:cNvSpPr/>
          <p:nvPr/>
        </p:nvSpPr>
        <p:spPr bwMode="auto">
          <a:xfrm>
            <a:off x="548640" y="2724911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Kotlin</a:t>
            </a:r>
            <a:endParaRPr lang="en-US" sz="1300"/>
          </a:p>
        </p:txBody>
      </p:sp>
      <p:sp>
        <p:nvSpPr>
          <p:cNvPr id="1853360177" name="Text 9"/>
          <p:cNvSpPr/>
          <p:nvPr/>
        </p:nvSpPr>
        <p:spPr bwMode="auto">
          <a:xfrm>
            <a:off x="1965960" y="2724911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Type-safe, concise language for Android</a:t>
            </a:r>
            <a:endParaRPr lang="en-US" sz="1200"/>
          </a:p>
        </p:txBody>
      </p:sp>
      <p:sp>
        <p:nvSpPr>
          <p:cNvPr id="419053077" name="Shape 10"/>
          <p:cNvSpPr/>
          <p:nvPr/>
        </p:nvSpPr>
        <p:spPr bwMode="auto">
          <a:xfrm>
            <a:off x="274320" y="330098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1363522" name="Text 11"/>
          <p:cNvSpPr/>
          <p:nvPr/>
        </p:nvSpPr>
        <p:spPr bwMode="auto">
          <a:xfrm>
            <a:off x="548640" y="32278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Android Jetpack</a:t>
            </a:r>
            <a:endParaRPr lang="en-US" sz="1300"/>
          </a:p>
        </p:txBody>
      </p:sp>
      <p:sp>
        <p:nvSpPr>
          <p:cNvPr id="846064720" name="Text 12"/>
          <p:cNvSpPr/>
          <p:nvPr/>
        </p:nvSpPr>
        <p:spPr bwMode="auto">
          <a:xfrm>
            <a:off x="1965960" y="322783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Lifecycle, Navigation, ViewModel</a:t>
            </a:r>
            <a:endParaRPr lang="en-US" sz="1200"/>
          </a:p>
        </p:txBody>
      </p:sp>
      <p:sp>
        <p:nvSpPr>
          <p:cNvPr id="828159557" name="Shape 13"/>
          <p:cNvSpPr/>
          <p:nvPr/>
        </p:nvSpPr>
        <p:spPr bwMode="auto">
          <a:xfrm>
            <a:off x="274320" y="380390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35396197" name="Text 14"/>
          <p:cNvSpPr/>
          <p:nvPr/>
        </p:nvSpPr>
        <p:spPr bwMode="auto">
          <a:xfrm>
            <a:off x="548640" y="37307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Hilt</a:t>
            </a:r>
            <a:endParaRPr lang="en-US" sz="1300"/>
          </a:p>
        </p:txBody>
      </p:sp>
      <p:sp>
        <p:nvSpPr>
          <p:cNvPr id="1267925699" name="Text 15"/>
          <p:cNvSpPr/>
          <p:nvPr/>
        </p:nvSpPr>
        <p:spPr bwMode="auto">
          <a:xfrm>
            <a:off x="1965960" y="373075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Dependency injection framework</a:t>
            </a:r>
            <a:endParaRPr lang="en-US" sz="1200"/>
          </a:p>
        </p:txBody>
      </p:sp>
      <p:sp>
        <p:nvSpPr>
          <p:cNvPr id="455629079" name="Shape 16"/>
          <p:cNvSpPr/>
          <p:nvPr/>
        </p:nvSpPr>
        <p:spPr bwMode="auto">
          <a:xfrm>
            <a:off x="274320" y="4306824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7369256" name="Text 17"/>
          <p:cNvSpPr/>
          <p:nvPr/>
        </p:nvSpPr>
        <p:spPr bwMode="auto">
          <a:xfrm>
            <a:off x="548640" y="423367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Material Design 3</a:t>
            </a:r>
            <a:endParaRPr lang="en-US" sz="1300"/>
          </a:p>
        </p:txBody>
      </p:sp>
      <p:sp>
        <p:nvSpPr>
          <p:cNvPr id="284622202" name="Text 18"/>
          <p:cNvSpPr/>
          <p:nvPr/>
        </p:nvSpPr>
        <p:spPr bwMode="auto">
          <a:xfrm>
            <a:off x="1965960" y="42336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Modern, accessible UI components</a:t>
            </a:r>
            <a:endParaRPr lang="en-US" sz="1200"/>
          </a:p>
        </p:txBody>
      </p:sp>
      <p:sp>
        <p:nvSpPr>
          <p:cNvPr id="1994368475" name="Text 19"/>
          <p:cNvSpPr/>
          <p:nvPr/>
        </p:nvSpPr>
        <p:spPr bwMode="auto">
          <a:xfrm>
            <a:off x="5852160" y="347472"/>
            <a:ext cx="3017519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1100" b="1" spc="1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Traditional vs. HouseFinder</a:t>
            </a:r>
            <a:endParaRPr lang="en-US" sz="1100"/>
          </a:p>
        </p:txBody>
      </p:sp>
      <p:sp>
        <p:nvSpPr>
          <p:cNvPr id="652591558" name="Shape 20"/>
          <p:cNvSpPr/>
          <p:nvPr/>
        </p:nvSpPr>
        <p:spPr bwMode="auto">
          <a:xfrm>
            <a:off x="5852160" y="749808"/>
            <a:ext cx="98755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19464368" name="Text 21"/>
          <p:cNvSpPr/>
          <p:nvPr/>
        </p:nvSpPr>
        <p:spPr bwMode="auto">
          <a:xfrm>
            <a:off x="5852160" y="74980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endParaRPr lang="en-US" sz="1000"/>
          </a:p>
        </p:txBody>
      </p:sp>
      <p:sp>
        <p:nvSpPr>
          <p:cNvPr id="279328162" name="Shape 22"/>
          <p:cNvSpPr/>
          <p:nvPr/>
        </p:nvSpPr>
        <p:spPr bwMode="auto">
          <a:xfrm>
            <a:off x="6839712" y="749808"/>
            <a:ext cx="98755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067860480" name="Text 23"/>
          <p:cNvSpPr/>
          <p:nvPr/>
        </p:nvSpPr>
        <p:spPr bwMode="auto">
          <a:xfrm>
            <a:off x="6839712" y="74980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Traditional</a:t>
            </a:r>
            <a:endParaRPr lang="en-US" sz="1000"/>
          </a:p>
        </p:txBody>
      </p:sp>
      <p:sp>
        <p:nvSpPr>
          <p:cNvPr id="910250925" name="Shape 24"/>
          <p:cNvSpPr/>
          <p:nvPr/>
        </p:nvSpPr>
        <p:spPr bwMode="auto">
          <a:xfrm>
            <a:off x="7827264" y="749808"/>
            <a:ext cx="987552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678890117" name="Text 25"/>
          <p:cNvSpPr/>
          <p:nvPr/>
        </p:nvSpPr>
        <p:spPr bwMode="auto">
          <a:xfrm>
            <a:off x="7827264" y="74980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HouseFinder</a:t>
            </a:r>
            <a:endParaRPr lang="en-US" sz="1000"/>
          </a:p>
        </p:txBody>
      </p:sp>
      <p:sp>
        <p:nvSpPr>
          <p:cNvPr id="477958366" name="Shape 26"/>
          <p:cNvSpPr/>
          <p:nvPr/>
        </p:nvSpPr>
        <p:spPr bwMode="auto">
          <a:xfrm>
            <a:off x="5852160" y="1252728"/>
            <a:ext cx="9875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867729620" name="Text 27"/>
          <p:cNvSpPr/>
          <p:nvPr/>
        </p:nvSpPr>
        <p:spPr bwMode="auto">
          <a:xfrm>
            <a:off x="5852160" y="125272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Speed</a:t>
            </a:r>
            <a:endParaRPr lang="en-US" sz="1100"/>
          </a:p>
        </p:txBody>
      </p:sp>
      <p:sp>
        <p:nvSpPr>
          <p:cNvPr id="562883122" name="Shape 28"/>
          <p:cNvSpPr/>
          <p:nvPr/>
        </p:nvSpPr>
        <p:spPr bwMode="auto">
          <a:xfrm>
            <a:off x="6839712" y="1252728"/>
            <a:ext cx="9875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42938236" name="Text 29"/>
          <p:cNvSpPr/>
          <p:nvPr/>
        </p:nvSpPr>
        <p:spPr bwMode="auto">
          <a:xfrm>
            <a:off x="6839712" y="125272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Slow</a:t>
            </a:r>
            <a:endParaRPr lang="en-US" sz="1100"/>
          </a:p>
        </p:txBody>
      </p:sp>
      <p:sp>
        <p:nvSpPr>
          <p:cNvPr id="1665491209" name="Shape 30"/>
          <p:cNvSpPr/>
          <p:nvPr/>
        </p:nvSpPr>
        <p:spPr bwMode="auto">
          <a:xfrm>
            <a:off x="7827264" y="1252728"/>
            <a:ext cx="9875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142787108" name="Text 31"/>
          <p:cNvSpPr/>
          <p:nvPr/>
        </p:nvSpPr>
        <p:spPr bwMode="auto">
          <a:xfrm>
            <a:off x="7827264" y="125272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Instant</a:t>
            </a:r>
            <a:endParaRPr lang="en-US" sz="1100"/>
          </a:p>
        </p:txBody>
      </p:sp>
      <p:sp>
        <p:nvSpPr>
          <p:cNvPr id="319213049" name="Shape 32"/>
          <p:cNvSpPr/>
          <p:nvPr/>
        </p:nvSpPr>
        <p:spPr bwMode="auto">
          <a:xfrm>
            <a:off x="5852160" y="1755648"/>
            <a:ext cx="987552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898177324" name="Text 33"/>
          <p:cNvSpPr/>
          <p:nvPr/>
        </p:nvSpPr>
        <p:spPr bwMode="auto">
          <a:xfrm>
            <a:off x="5852160" y="175564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Updates</a:t>
            </a:r>
            <a:endParaRPr lang="en-US" sz="1100"/>
          </a:p>
        </p:txBody>
      </p:sp>
      <p:sp>
        <p:nvSpPr>
          <p:cNvPr id="1342185975" name="Shape 34"/>
          <p:cNvSpPr/>
          <p:nvPr/>
        </p:nvSpPr>
        <p:spPr bwMode="auto">
          <a:xfrm>
            <a:off x="6839712" y="1755648"/>
            <a:ext cx="987552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164309902" name="Text 35"/>
          <p:cNvSpPr/>
          <p:nvPr/>
        </p:nvSpPr>
        <p:spPr bwMode="auto">
          <a:xfrm>
            <a:off x="6839712" y="175564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Manual</a:t>
            </a:r>
            <a:endParaRPr lang="en-US" sz="1100"/>
          </a:p>
        </p:txBody>
      </p:sp>
      <p:sp>
        <p:nvSpPr>
          <p:cNvPr id="1968371737" name="Shape 36"/>
          <p:cNvSpPr/>
          <p:nvPr/>
        </p:nvSpPr>
        <p:spPr bwMode="auto">
          <a:xfrm>
            <a:off x="7827264" y="1755648"/>
            <a:ext cx="987552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2015624121" name="Text 37"/>
          <p:cNvSpPr/>
          <p:nvPr/>
        </p:nvSpPr>
        <p:spPr bwMode="auto">
          <a:xfrm>
            <a:off x="7827264" y="175564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Real-time</a:t>
            </a:r>
            <a:endParaRPr lang="en-US" sz="1100"/>
          </a:p>
        </p:txBody>
      </p:sp>
      <p:sp>
        <p:nvSpPr>
          <p:cNvPr id="824866804" name="Shape 38"/>
          <p:cNvSpPr/>
          <p:nvPr/>
        </p:nvSpPr>
        <p:spPr bwMode="auto">
          <a:xfrm>
            <a:off x="5852160" y="2258568"/>
            <a:ext cx="9875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415757579" name="Text 39"/>
          <p:cNvSpPr/>
          <p:nvPr/>
        </p:nvSpPr>
        <p:spPr bwMode="auto">
          <a:xfrm>
            <a:off x="5852160" y="22585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Platform</a:t>
            </a:r>
            <a:endParaRPr lang="en-US" sz="1100"/>
          </a:p>
        </p:txBody>
      </p:sp>
      <p:sp>
        <p:nvSpPr>
          <p:cNvPr id="302799046" name="Shape 40"/>
          <p:cNvSpPr/>
          <p:nvPr/>
        </p:nvSpPr>
        <p:spPr bwMode="auto">
          <a:xfrm>
            <a:off x="6839712" y="2258568"/>
            <a:ext cx="9875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04199868" name="Text 41"/>
          <p:cNvSpPr/>
          <p:nvPr/>
        </p:nvSpPr>
        <p:spPr bwMode="auto">
          <a:xfrm>
            <a:off x="6839712" y="22585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Desktop</a:t>
            </a:r>
            <a:endParaRPr lang="en-US" sz="1100"/>
          </a:p>
        </p:txBody>
      </p:sp>
      <p:sp>
        <p:nvSpPr>
          <p:cNvPr id="1479787325" name="Shape 42"/>
          <p:cNvSpPr/>
          <p:nvPr/>
        </p:nvSpPr>
        <p:spPr bwMode="auto">
          <a:xfrm>
            <a:off x="7827264" y="2258568"/>
            <a:ext cx="98755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462397701" name="Text 43"/>
          <p:cNvSpPr/>
          <p:nvPr/>
        </p:nvSpPr>
        <p:spPr bwMode="auto">
          <a:xfrm>
            <a:off x="7827264" y="225856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Mobile-first</a:t>
            </a:r>
            <a:endParaRPr lang="en-US" sz="1100"/>
          </a:p>
        </p:txBody>
      </p:sp>
      <p:sp>
        <p:nvSpPr>
          <p:cNvPr id="1972572247" name="Shape 44"/>
          <p:cNvSpPr/>
          <p:nvPr/>
        </p:nvSpPr>
        <p:spPr bwMode="auto">
          <a:xfrm>
            <a:off x="5852160" y="2761488"/>
            <a:ext cx="987552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62672470" name="Text 45"/>
          <p:cNvSpPr/>
          <p:nvPr/>
        </p:nvSpPr>
        <p:spPr bwMode="auto">
          <a:xfrm>
            <a:off x="5852160" y="276148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Listings</a:t>
            </a:r>
            <a:endParaRPr lang="en-US" sz="1100"/>
          </a:p>
        </p:txBody>
      </p:sp>
      <p:sp>
        <p:nvSpPr>
          <p:cNvPr id="70539242" name="Shape 46"/>
          <p:cNvSpPr/>
          <p:nvPr/>
        </p:nvSpPr>
        <p:spPr bwMode="auto">
          <a:xfrm>
            <a:off x="6839712" y="2761488"/>
            <a:ext cx="987552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760026288" name="Text 47"/>
          <p:cNvSpPr/>
          <p:nvPr/>
        </p:nvSpPr>
        <p:spPr bwMode="auto">
          <a:xfrm>
            <a:off x="6839712" y="276148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Fragmented</a:t>
            </a:r>
            <a:endParaRPr lang="en-US" sz="1100"/>
          </a:p>
        </p:txBody>
      </p:sp>
      <p:sp>
        <p:nvSpPr>
          <p:cNvPr id="1708816860" name="Shape 48"/>
          <p:cNvSpPr/>
          <p:nvPr/>
        </p:nvSpPr>
        <p:spPr bwMode="auto">
          <a:xfrm>
            <a:off x="7827264" y="2761488"/>
            <a:ext cx="987552" cy="4572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2317675" name="Text 49"/>
          <p:cNvSpPr/>
          <p:nvPr/>
        </p:nvSpPr>
        <p:spPr bwMode="auto">
          <a:xfrm>
            <a:off x="7827264" y="2761488"/>
            <a:ext cx="987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Centralized</a:t>
            </a:r>
            <a:endParaRPr lang="en-US" sz="1100"/>
          </a:p>
        </p:txBody>
      </p:sp>
      <p:sp>
        <p:nvSpPr>
          <p:cNvPr id="1150113983" name="Text 50"/>
          <p:cNvSpPr/>
          <p:nvPr/>
        </p:nvSpPr>
        <p:spPr bwMode="auto">
          <a:xfrm>
            <a:off x="274320" y="482803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Refs: kotlinlang.org  ·  developer.android.com/jetpack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4521028" name="Shape 0"/>
          <p:cNvSpPr/>
          <p:nvPr/>
        </p:nvSpPr>
        <p:spPr bwMode="auto"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397142" name="Text 1"/>
          <p:cNvSpPr/>
          <p:nvPr/>
        </p:nvSpPr>
        <p:spPr bwMode="auto">
          <a:xfrm>
            <a:off x="164592" y="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D9488"/>
                </a:solidFill>
                <a:latin typeface="Georgia"/>
                <a:ea typeface="Georgia"/>
                <a:cs typeface="Georgia"/>
              </a:rPr>
              <a:t>02</a:t>
            </a:r>
            <a:endParaRPr lang="en-US" sz="2600"/>
          </a:p>
        </p:txBody>
      </p:sp>
      <p:sp>
        <p:nvSpPr>
          <p:cNvPr id="110801155" name="Text 2"/>
          <p:cNvSpPr/>
          <p:nvPr/>
        </p:nvSpPr>
        <p:spPr bwMode="auto">
          <a:xfrm>
            <a:off x="82296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Purpose &amp; Business Strategy</a:t>
            </a:r>
            <a:endParaRPr lang="en-US" sz="2400"/>
          </a:p>
        </p:txBody>
      </p:sp>
      <p:sp>
        <p:nvSpPr>
          <p:cNvPr id="192473494" name="Text 3"/>
          <p:cNvSpPr/>
          <p:nvPr/>
        </p:nvSpPr>
        <p:spPr bwMode="auto">
          <a:xfrm>
            <a:off x="274320" y="896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CHALLENGES</a:t>
            </a:r>
            <a:endParaRPr lang="en-US" sz="950"/>
          </a:p>
        </p:txBody>
      </p:sp>
      <p:sp>
        <p:nvSpPr>
          <p:cNvPr id="677372082" name="Shape 4"/>
          <p:cNvSpPr/>
          <p:nvPr/>
        </p:nvSpPr>
        <p:spPr bwMode="auto">
          <a:xfrm>
            <a:off x="274320" y="1252728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72326405" name="Text 5"/>
          <p:cNvSpPr/>
          <p:nvPr/>
        </p:nvSpPr>
        <p:spPr bwMode="auto">
          <a:xfrm>
            <a:off x="420624" y="12070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High barriers for small-scale property providers</a:t>
            </a:r>
            <a:endParaRPr lang="en-US" sz="1200"/>
          </a:p>
        </p:txBody>
      </p:sp>
      <p:sp>
        <p:nvSpPr>
          <p:cNvPr id="570152320" name="Shape 6"/>
          <p:cNvSpPr/>
          <p:nvPr/>
        </p:nvSpPr>
        <p:spPr bwMode="auto">
          <a:xfrm>
            <a:off x="274320" y="1709928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8014311" name="Text 7"/>
          <p:cNvSpPr/>
          <p:nvPr/>
        </p:nvSpPr>
        <p:spPr bwMode="auto">
          <a:xfrm>
            <a:off x="420624" y="16642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 secure reservation tracking for owners</a:t>
            </a:r>
            <a:endParaRPr lang="en-US" sz="1200"/>
          </a:p>
        </p:txBody>
      </p:sp>
      <p:sp>
        <p:nvSpPr>
          <p:cNvPr id="1492512237" name="Shape 8"/>
          <p:cNvSpPr/>
          <p:nvPr/>
        </p:nvSpPr>
        <p:spPr bwMode="auto">
          <a:xfrm>
            <a:off x="274320" y="2167128"/>
            <a:ext cx="36576" cy="2926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18164799" name="Text 9"/>
          <p:cNvSpPr/>
          <p:nvPr/>
        </p:nvSpPr>
        <p:spPr bwMode="auto">
          <a:xfrm>
            <a:off x="420624" y="21214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Stale listings — no real-time availability updates</a:t>
            </a:r>
            <a:endParaRPr lang="en-US" sz="1200"/>
          </a:p>
        </p:txBody>
      </p:sp>
      <p:sp>
        <p:nvSpPr>
          <p:cNvPr id="1202385545" name="Text 10"/>
          <p:cNvSpPr/>
          <p:nvPr/>
        </p:nvSpPr>
        <p:spPr bwMode="auto">
          <a:xfrm>
            <a:off x="274320" y="26517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BUSINESS RULES</a:t>
            </a:r>
            <a:endParaRPr lang="en-US" sz="950"/>
          </a:p>
        </p:txBody>
      </p:sp>
      <p:sp>
        <p:nvSpPr>
          <p:cNvPr id="424330343" name="Shape 11"/>
          <p:cNvSpPr/>
          <p:nvPr/>
        </p:nvSpPr>
        <p:spPr bwMode="auto">
          <a:xfrm>
            <a:off x="274320" y="2944368"/>
            <a:ext cx="3886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5873488" name="Shape 12"/>
          <p:cNvSpPr/>
          <p:nvPr/>
        </p:nvSpPr>
        <p:spPr bwMode="auto">
          <a:xfrm>
            <a:off x="274320" y="2944368"/>
            <a:ext cx="36576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49956623" name="Text 13"/>
          <p:cNvSpPr/>
          <p:nvPr/>
        </p:nvSpPr>
        <p:spPr bwMode="auto">
          <a:xfrm>
            <a:off x="402336" y="29718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Role-based access</a:t>
            </a:r>
            <a:endParaRPr lang="en-US" sz="1200"/>
          </a:p>
        </p:txBody>
      </p:sp>
      <p:sp>
        <p:nvSpPr>
          <p:cNvPr id="1740683448" name="Text 14"/>
          <p:cNvSpPr/>
          <p:nvPr/>
        </p:nvSpPr>
        <p:spPr bwMode="auto">
          <a:xfrm>
            <a:off x="402336" y="319125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Provider vs. Seeker dashboards</a:t>
            </a:r>
            <a:endParaRPr lang="en-US" sz="1050"/>
          </a:p>
        </p:txBody>
      </p:sp>
      <p:sp>
        <p:nvSpPr>
          <p:cNvPr id="1406002611" name="Shape 15"/>
          <p:cNvSpPr/>
          <p:nvPr/>
        </p:nvSpPr>
        <p:spPr bwMode="auto">
          <a:xfrm>
            <a:off x="274320" y="3511296"/>
            <a:ext cx="3886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5387797" name="Shape 16"/>
          <p:cNvSpPr/>
          <p:nvPr/>
        </p:nvSpPr>
        <p:spPr bwMode="auto">
          <a:xfrm>
            <a:off x="274320" y="3511296"/>
            <a:ext cx="36576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1348457" name="Text 17"/>
          <p:cNvSpPr/>
          <p:nvPr/>
        </p:nvSpPr>
        <p:spPr bwMode="auto">
          <a:xfrm>
            <a:off x="402336" y="35387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Credential security</a:t>
            </a:r>
            <a:endParaRPr lang="en-US" sz="1200"/>
          </a:p>
        </p:txBody>
      </p:sp>
      <p:sp>
        <p:nvSpPr>
          <p:cNvPr id="1902484561" name="Text 18"/>
          <p:cNvSpPr/>
          <p:nvPr/>
        </p:nvSpPr>
        <p:spPr bwMode="auto">
          <a:xfrm>
            <a:off x="402336" y="37581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jBCrypt password hashing</a:t>
            </a:r>
            <a:endParaRPr lang="en-US" sz="1050"/>
          </a:p>
        </p:txBody>
      </p:sp>
      <p:sp>
        <p:nvSpPr>
          <p:cNvPr id="939450118" name="Shape 19"/>
          <p:cNvSpPr/>
          <p:nvPr/>
        </p:nvSpPr>
        <p:spPr bwMode="auto">
          <a:xfrm>
            <a:off x="274320" y="4078224"/>
            <a:ext cx="3886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7743953" name="Shape 20"/>
          <p:cNvSpPr/>
          <p:nvPr/>
        </p:nvSpPr>
        <p:spPr bwMode="auto">
          <a:xfrm>
            <a:off x="274320" y="4078224"/>
            <a:ext cx="36576" cy="4754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05677038" name="Text 21"/>
          <p:cNvSpPr/>
          <p:nvPr/>
        </p:nvSpPr>
        <p:spPr bwMode="auto">
          <a:xfrm>
            <a:off x="402336" y="41056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Offline support</a:t>
            </a:r>
            <a:endParaRPr lang="en-US" sz="1200"/>
          </a:p>
        </p:txBody>
      </p:sp>
      <p:sp>
        <p:nvSpPr>
          <p:cNvPr id="247173740" name="Text 22"/>
          <p:cNvSpPr/>
          <p:nvPr/>
        </p:nvSpPr>
        <p:spPr bwMode="auto">
          <a:xfrm>
            <a:off x="402336" y="432511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Room-backed data persistence</a:t>
            </a:r>
            <a:endParaRPr lang="en-US" sz="1050"/>
          </a:p>
        </p:txBody>
      </p:sp>
      <p:sp>
        <p:nvSpPr>
          <p:cNvPr id="1415496005" name="Text 23"/>
          <p:cNvSpPr/>
          <p:nvPr/>
        </p:nvSpPr>
        <p:spPr bwMode="auto">
          <a:xfrm>
            <a:off x="4572000" y="89611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AUTHENTICATION FLOW</a:t>
            </a:r>
            <a:endParaRPr lang="en-US" sz="950"/>
          </a:p>
        </p:txBody>
      </p:sp>
      <p:sp>
        <p:nvSpPr>
          <p:cNvPr id="2047928736" name="Shape 24"/>
          <p:cNvSpPr/>
          <p:nvPr/>
        </p:nvSpPr>
        <p:spPr bwMode="auto">
          <a:xfrm>
            <a:off x="5669280" y="1207008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9807323" name="Text 25"/>
          <p:cNvSpPr/>
          <p:nvPr/>
        </p:nvSpPr>
        <p:spPr bwMode="auto">
          <a:xfrm>
            <a:off x="5669280" y="12070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Launch App</a:t>
            </a:r>
            <a:endParaRPr lang="en-US" sz="1150"/>
          </a:p>
        </p:txBody>
      </p:sp>
      <p:sp>
        <p:nvSpPr>
          <p:cNvPr id="2077016281" name="Shape 26"/>
          <p:cNvSpPr/>
          <p:nvPr/>
        </p:nvSpPr>
        <p:spPr bwMode="auto">
          <a:xfrm>
            <a:off x="6720840" y="1609344"/>
            <a:ext cx="0" cy="25603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27309471" name="Shape 27"/>
          <p:cNvSpPr/>
          <p:nvPr/>
        </p:nvSpPr>
        <p:spPr bwMode="auto">
          <a:xfrm>
            <a:off x="6647687" y="1773936"/>
            <a:ext cx="73152" cy="914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754625925" name="Shape 28"/>
          <p:cNvSpPr/>
          <p:nvPr/>
        </p:nvSpPr>
        <p:spPr bwMode="auto">
          <a:xfrm>
            <a:off x="6720840" y="1773936"/>
            <a:ext cx="73152" cy="914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5483206" name="Shape 29"/>
          <p:cNvSpPr/>
          <p:nvPr/>
        </p:nvSpPr>
        <p:spPr bwMode="auto">
          <a:xfrm>
            <a:off x="5669280" y="1865376"/>
            <a:ext cx="210312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86205886" name="Text 30"/>
          <p:cNvSpPr/>
          <p:nvPr/>
        </p:nvSpPr>
        <p:spPr bwMode="auto">
          <a:xfrm>
            <a:off x="5669280" y="18653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Login / Register Screen</a:t>
            </a:r>
            <a:endParaRPr lang="en-US" sz="1150"/>
          </a:p>
        </p:txBody>
      </p:sp>
      <p:sp>
        <p:nvSpPr>
          <p:cNvPr id="2003464830" name="Shape 31"/>
          <p:cNvSpPr/>
          <p:nvPr/>
        </p:nvSpPr>
        <p:spPr bwMode="auto">
          <a:xfrm>
            <a:off x="6720840" y="2267712"/>
            <a:ext cx="0" cy="25603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78649955" name="Shape 32"/>
          <p:cNvSpPr/>
          <p:nvPr/>
        </p:nvSpPr>
        <p:spPr bwMode="auto">
          <a:xfrm>
            <a:off x="6647687" y="2432303"/>
            <a:ext cx="73152" cy="914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941331022" name="Shape 33"/>
          <p:cNvSpPr/>
          <p:nvPr/>
        </p:nvSpPr>
        <p:spPr bwMode="auto">
          <a:xfrm>
            <a:off x="6720840" y="2432303"/>
            <a:ext cx="73152" cy="914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733734404" name="Shape 34"/>
          <p:cNvSpPr/>
          <p:nvPr/>
        </p:nvSpPr>
        <p:spPr bwMode="auto">
          <a:xfrm>
            <a:off x="5669280" y="2523744"/>
            <a:ext cx="21031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39068608" name="Text 35"/>
          <p:cNvSpPr/>
          <p:nvPr/>
        </p:nvSpPr>
        <p:spPr bwMode="auto">
          <a:xfrm>
            <a:off x="5669280" y="25237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Validate Credentials</a:t>
            </a:r>
            <a:endParaRPr lang="en-US" sz="1150"/>
          </a:p>
        </p:txBody>
      </p:sp>
      <p:sp>
        <p:nvSpPr>
          <p:cNvPr id="1532257000" name="Text 36"/>
          <p:cNvSpPr/>
          <p:nvPr/>
        </p:nvSpPr>
        <p:spPr bwMode="auto">
          <a:xfrm>
            <a:off x="7827264" y="2615184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9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Valid?</a:t>
            </a:r>
            <a:endParaRPr lang="en-US" sz="900"/>
          </a:p>
        </p:txBody>
      </p:sp>
      <p:sp>
        <p:nvSpPr>
          <p:cNvPr id="1196807822" name="Shape 37"/>
          <p:cNvSpPr/>
          <p:nvPr/>
        </p:nvSpPr>
        <p:spPr bwMode="auto">
          <a:xfrm>
            <a:off x="5321808" y="2724911"/>
            <a:ext cx="3474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853750589" name="Shape 38"/>
          <p:cNvSpPr/>
          <p:nvPr/>
        </p:nvSpPr>
        <p:spPr bwMode="auto">
          <a:xfrm>
            <a:off x="5321808" y="2066544"/>
            <a:ext cx="0" cy="658368"/>
          </a:xfrm>
          <a:prstGeom prst="line">
            <a:avLst/>
          </a:prstGeom>
          <a:noFill/>
          <a:ln w="12700">
            <a:solidFill>
              <a:srgbClr val="CC3333"/>
            </a:solidFill>
            <a:prstDash val="dash"/>
          </a:ln>
        </p:spPr>
      </p:sp>
      <p:sp>
        <p:nvSpPr>
          <p:cNvPr id="1148821180" name="Shape 39"/>
          <p:cNvSpPr/>
          <p:nvPr/>
        </p:nvSpPr>
        <p:spPr bwMode="auto">
          <a:xfrm>
            <a:off x="5321808" y="2066544"/>
            <a:ext cx="34747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727242596" name="Text 40"/>
          <p:cNvSpPr/>
          <p:nvPr/>
        </p:nvSpPr>
        <p:spPr bwMode="auto">
          <a:xfrm>
            <a:off x="5001768" y="2523744"/>
            <a:ext cx="2926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CC3333"/>
                </a:solidFill>
                <a:latin typeface="Calibri"/>
                <a:ea typeface="Calibri"/>
                <a:cs typeface="Calibri"/>
              </a:rPr>
              <a:t>No</a:t>
            </a:r>
            <a:endParaRPr lang="en-US" sz="900"/>
          </a:p>
        </p:txBody>
      </p:sp>
      <p:sp>
        <p:nvSpPr>
          <p:cNvPr id="997943232" name="Shape 41"/>
          <p:cNvSpPr/>
          <p:nvPr/>
        </p:nvSpPr>
        <p:spPr bwMode="auto">
          <a:xfrm>
            <a:off x="6720840" y="2926080"/>
            <a:ext cx="0" cy="25603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644846991" name="Shape 42"/>
          <p:cNvSpPr/>
          <p:nvPr/>
        </p:nvSpPr>
        <p:spPr bwMode="auto">
          <a:xfrm>
            <a:off x="6647687" y="3090672"/>
            <a:ext cx="73152" cy="914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807769922" name="Shape 43"/>
          <p:cNvSpPr/>
          <p:nvPr/>
        </p:nvSpPr>
        <p:spPr bwMode="auto">
          <a:xfrm>
            <a:off x="6720840" y="3090672"/>
            <a:ext cx="73152" cy="9144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61022737" name="Text 44"/>
          <p:cNvSpPr/>
          <p:nvPr/>
        </p:nvSpPr>
        <p:spPr bwMode="auto">
          <a:xfrm>
            <a:off x="6775704" y="296265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Yes</a:t>
            </a:r>
            <a:endParaRPr lang="en-US" sz="900"/>
          </a:p>
        </p:txBody>
      </p:sp>
      <p:sp>
        <p:nvSpPr>
          <p:cNvPr id="1167872994" name="Shape 45"/>
          <p:cNvSpPr/>
          <p:nvPr/>
        </p:nvSpPr>
        <p:spPr bwMode="auto">
          <a:xfrm>
            <a:off x="5669280" y="3182112"/>
            <a:ext cx="2103120" cy="402336"/>
          </a:xfrm>
          <a:prstGeom prst="rect">
            <a:avLst/>
          </a:prstGeom>
          <a:solidFill>
            <a:srgbClr val="1B2A3B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24882945" name="Text 46"/>
          <p:cNvSpPr/>
          <p:nvPr/>
        </p:nvSpPr>
        <p:spPr bwMode="auto">
          <a:xfrm>
            <a:off x="5669280" y="318211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Check User Role</a:t>
            </a:r>
            <a:endParaRPr lang="en-US" sz="1150"/>
          </a:p>
        </p:txBody>
      </p:sp>
      <p:sp>
        <p:nvSpPr>
          <p:cNvPr id="1572448994" name="Shape 47"/>
          <p:cNvSpPr/>
          <p:nvPr/>
        </p:nvSpPr>
        <p:spPr bwMode="auto">
          <a:xfrm>
            <a:off x="6720840" y="3584448"/>
            <a:ext cx="0" cy="115214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42936805" name="Shape 48"/>
          <p:cNvSpPr/>
          <p:nvPr/>
        </p:nvSpPr>
        <p:spPr bwMode="auto">
          <a:xfrm>
            <a:off x="5879592" y="3699662"/>
            <a:ext cx="1682496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84619226" name="Shape 49"/>
          <p:cNvSpPr/>
          <p:nvPr/>
        </p:nvSpPr>
        <p:spPr bwMode="auto">
          <a:xfrm>
            <a:off x="5879592" y="3699662"/>
            <a:ext cx="0" cy="14081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4738030" name="Shape 50"/>
          <p:cNvSpPr/>
          <p:nvPr/>
        </p:nvSpPr>
        <p:spPr bwMode="auto">
          <a:xfrm>
            <a:off x="7562088" y="3699662"/>
            <a:ext cx="0" cy="14081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939151945" name="Text 51"/>
          <p:cNvSpPr/>
          <p:nvPr/>
        </p:nvSpPr>
        <p:spPr bwMode="auto">
          <a:xfrm>
            <a:off x="5001768" y="362102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Provider</a:t>
            </a:r>
            <a:endParaRPr lang="en-US" sz="800"/>
          </a:p>
        </p:txBody>
      </p:sp>
      <p:sp>
        <p:nvSpPr>
          <p:cNvPr id="367304962" name="Text 52"/>
          <p:cNvSpPr/>
          <p:nvPr/>
        </p:nvSpPr>
        <p:spPr bwMode="auto">
          <a:xfrm>
            <a:off x="7287768" y="3621024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Seeker</a:t>
            </a:r>
            <a:endParaRPr lang="en-US" sz="800"/>
          </a:p>
        </p:txBody>
      </p:sp>
      <p:sp>
        <p:nvSpPr>
          <p:cNvPr id="1045356459" name="Shape 53"/>
          <p:cNvSpPr/>
          <p:nvPr/>
        </p:nvSpPr>
        <p:spPr bwMode="auto">
          <a:xfrm>
            <a:off x="4892039" y="3840480"/>
            <a:ext cx="17373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16975231" name="Text 54"/>
          <p:cNvSpPr/>
          <p:nvPr/>
        </p:nvSpPr>
        <p:spPr bwMode="auto">
          <a:xfrm>
            <a:off x="4892039" y="38404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Provider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Dashboard</a:t>
            </a:r>
            <a:endParaRPr lang="en-US" sz="1050"/>
          </a:p>
        </p:txBody>
      </p:sp>
      <p:sp>
        <p:nvSpPr>
          <p:cNvPr id="1421767696" name="Shape 55"/>
          <p:cNvSpPr/>
          <p:nvPr/>
        </p:nvSpPr>
        <p:spPr bwMode="auto">
          <a:xfrm>
            <a:off x="6812280" y="3840480"/>
            <a:ext cx="1737360" cy="4023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58871546" name="Text 56"/>
          <p:cNvSpPr/>
          <p:nvPr/>
        </p:nvSpPr>
        <p:spPr bwMode="auto">
          <a:xfrm>
            <a:off x="6812280" y="38404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Seeker</a:t>
            </a:r>
            <a:endParaRPr lang="en-US" sz="1050"/>
          </a:p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Dashboard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4933866" name="Shape 0"/>
          <p:cNvSpPr/>
          <p:nvPr/>
        </p:nvSpPr>
        <p:spPr bwMode="auto"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56391007" name="Text 1"/>
          <p:cNvSpPr/>
          <p:nvPr/>
        </p:nvSpPr>
        <p:spPr bwMode="auto">
          <a:xfrm>
            <a:off x="164592" y="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D9488"/>
                </a:solidFill>
                <a:latin typeface="Georgia"/>
                <a:ea typeface="Georgia"/>
                <a:cs typeface="Georgia"/>
              </a:rPr>
              <a:t>03</a:t>
            </a:r>
            <a:endParaRPr lang="en-US" sz="2600"/>
          </a:p>
        </p:txBody>
      </p:sp>
      <p:sp>
        <p:nvSpPr>
          <p:cNvPr id="1619256052" name="Text 2"/>
          <p:cNvSpPr/>
          <p:nvPr/>
        </p:nvSpPr>
        <p:spPr bwMode="auto">
          <a:xfrm>
            <a:off x="82296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System Design &amp; Database Schema</a:t>
            </a:r>
            <a:endParaRPr lang="en-US" sz="2400"/>
          </a:p>
        </p:txBody>
      </p:sp>
      <p:sp>
        <p:nvSpPr>
          <p:cNvPr id="628927609" name="Text 3"/>
          <p:cNvSpPr/>
          <p:nvPr/>
        </p:nvSpPr>
        <p:spPr bwMode="auto">
          <a:xfrm>
            <a:off x="274320" y="868680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ER DIAGRAM</a:t>
            </a:r>
            <a:endParaRPr lang="en-US" sz="950"/>
          </a:p>
        </p:txBody>
      </p:sp>
      <p:sp>
        <p:nvSpPr>
          <p:cNvPr id="1813926401" name="Shape 4"/>
          <p:cNvSpPr/>
          <p:nvPr/>
        </p:nvSpPr>
        <p:spPr bwMode="auto">
          <a:xfrm>
            <a:off x="274320" y="1170432"/>
            <a:ext cx="19202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11475986" name="Text 5"/>
          <p:cNvSpPr/>
          <p:nvPr/>
        </p:nvSpPr>
        <p:spPr bwMode="auto">
          <a:xfrm>
            <a:off x="274320" y="117043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USER</a:t>
            </a:r>
            <a:endParaRPr lang="en-US" sz="1100"/>
          </a:p>
        </p:txBody>
      </p:sp>
      <p:sp>
        <p:nvSpPr>
          <p:cNvPr id="887064759" name="Shape 6"/>
          <p:cNvSpPr/>
          <p:nvPr/>
        </p:nvSpPr>
        <p:spPr bwMode="auto">
          <a:xfrm>
            <a:off x="274320" y="1170432"/>
            <a:ext cx="1920240" cy="1335024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9967621" name="Shape 7"/>
          <p:cNvSpPr/>
          <p:nvPr/>
        </p:nvSpPr>
        <p:spPr bwMode="auto">
          <a:xfrm>
            <a:off x="274320" y="1463040"/>
            <a:ext cx="192024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2955716" name="Shape 8"/>
          <p:cNvSpPr/>
          <p:nvPr/>
        </p:nvSpPr>
        <p:spPr bwMode="auto">
          <a:xfrm>
            <a:off x="310896" y="1522476"/>
            <a:ext cx="256032" cy="1417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17831906" name="Text 9"/>
          <p:cNvSpPr/>
          <p:nvPr/>
        </p:nvSpPr>
        <p:spPr bwMode="auto">
          <a:xfrm>
            <a:off x="310896" y="1522476"/>
            <a:ext cx="25603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PK</a:t>
            </a:r>
            <a:endParaRPr lang="en-US" sz="650"/>
          </a:p>
        </p:txBody>
      </p:sp>
      <p:sp>
        <p:nvSpPr>
          <p:cNvPr id="249138906" name="Text 10"/>
          <p:cNvSpPr/>
          <p:nvPr/>
        </p:nvSpPr>
        <p:spPr bwMode="auto">
          <a:xfrm>
            <a:off x="621792" y="1463040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id</a:t>
            </a:r>
            <a:endParaRPr lang="en-US" sz="1000"/>
          </a:p>
        </p:txBody>
      </p:sp>
      <p:sp>
        <p:nvSpPr>
          <p:cNvPr id="1801920700" name="Shape 11"/>
          <p:cNvSpPr/>
          <p:nvPr/>
        </p:nvSpPr>
        <p:spPr bwMode="auto">
          <a:xfrm>
            <a:off x="274320" y="1723644"/>
            <a:ext cx="1920240" cy="260604"/>
          </a:xfrm>
          <a:prstGeom prst="rect">
            <a:avLst/>
          </a:prstGeom>
          <a:solidFill>
            <a:srgbClr val="F1F7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55493019" name="Text 12"/>
          <p:cNvSpPr/>
          <p:nvPr/>
        </p:nvSpPr>
        <p:spPr bwMode="auto">
          <a:xfrm>
            <a:off x="621792" y="1723644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email</a:t>
            </a:r>
            <a:endParaRPr lang="en-US" sz="1000"/>
          </a:p>
        </p:txBody>
      </p:sp>
      <p:sp>
        <p:nvSpPr>
          <p:cNvPr id="791185812" name="Shape 13"/>
          <p:cNvSpPr/>
          <p:nvPr/>
        </p:nvSpPr>
        <p:spPr bwMode="auto">
          <a:xfrm>
            <a:off x="274320" y="1984248"/>
            <a:ext cx="192024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89670129" name="Text 14"/>
          <p:cNvSpPr/>
          <p:nvPr/>
        </p:nvSpPr>
        <p:spPr bwMode="auto">
          <a:xfrm>
            <a:off x="621792" y="1984248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passwordHash</a:t>
            </a:r>
            <a:endParaRPr lang="en-US" sz="1000"/>
          </a:p>
        </p:txBody>
      </p:sp>
      <p:sp>
        <p:nvSpPr>
          <p:cNvPr id="1593149539" name="Shape 15"/>
          <p:cNvSpPr/>
          <p:nvPr/>
        </p:nvSpPr>
        <p:spPr bwMode="auto">
          <a:xfrm>
            <a:off x="274320" y="2244852"/>
            <a:ext cx="1920240" cy="260604"/>
          </a:xfrm>
          <a:prstGeom prst="rect">
            <a:avLst/>
          </a:prstGeom>
          <a:solidFill>
            <a:srgbClr val="F1F7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97565894" name="Text 16"/>
          <p:cNvSpPr/>
          <p:nvPr/>
        </p:nvSpPr>
        <p:spPr bwMode="auto">
          <a:xfrm>
            <a:off x="621792" y="2244852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userRole</a:t>
            </a:r>
            <a:endParaRPr lang="en-US" sz="1000"/>
          </a:p>
        </p:txBody>
      </p:sp>
      <p:sp>
        <p:nvSpPr>
          <p:cNvPr id="1482993854" name="Shape 17"/>
          <p:cNvSpPr/>
          <p:nvPr/>
        </p:nvSpPr>
        <p:spPr bwMode="auto">
          <a:xfrm>
            <a:off x="274320" y="2944368"/>
            <a:ext cx="19202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2863126" name="Text 18"/>
          <p:cNvSpPr/>
          <p:nvPr/>
        </p:nvSpPr>
        <p:spPr bwMode="auto">
          <a:xfrm>
            <a:off x="274320" y="2944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LISTING</a:t>
            </a:r>
            <a:endParaRPr lang="en-US" sz="1100"/>
          </a:p>
        </p:txBody>
      </p:sp>
      <p:sp>
        <p:nvSpPr>
          <p:cNvPr id="493028984" name="Shape 19"/>
          <p:cNvSpPr/>
          <p:nvPr/>
        </p:nvSpPr>
        <p:spPr bwMode="auto">
          <a:xfrm>
            <a:off x="274320" y="2944368"/>
            <a:ext cx="1920240" cy="159562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30279816" name="Shape 20"/>
          <p:cNvSpPr/>
          <p:nvPr/>
        </p:nvSpPr>
        <p:spPr bwMode="auto">
          <a:xfrm>
            <a:off x="274320" y="3236976"/>
            <a:ext cx="192024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1971409" name="Shape 21"/>
          <p:cNvSpPr/>
          <p:nvPr/>
        </p:nvSpPr>
        <p:spPr bwMode="auto">
          <a:xfrm>
            <a:off x="310896" y="3296411"/>
            <a:ext cx="256032" cy="1417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4487802" name="Text 22"/>
          <p:cNvSpPr/>
          <p:nvPr/>
        </p:nvSpPr>
        <p:spPr bwMode="auto">
          <a:xfrm>
            <a:off x="310896" y="3296411"/>
            <a:ext cx="25603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PK</a:t>
            </a:r>
            <a:endParaRPr lang="en-US" sz="650"/>
          </a:p>
        </p:txBody>
      </p:sp>
      <p:sp>
        <p:nvSpPr>
          <p:cNvPr id="2035364703" name="Text 23"/>
          <p:cNvSpPr/>
          <p:nvPr/>
        </p:nvSpPr>
        <p:spPr bwMode="auto">
          <a:xfrm>
            <a:off x="621792" y="3236976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id</a:t>
            </a:r>
            <a:endParaRPr lang="en-US" sz="1000"/>
          </a:p>
        </p:txBody>
      </p:sp>
      <p:sp>
        <p:nvSpPr>
          <p:cNvPr id="1990566536" name="Shape 24"/>
          <p:cNvSpPr/>
          <p:nvPr/>
        </p:nvSpPr>
        <p:spPr bwMode="auto">
          <a:xfrm>
            <a:off x="274320" y="3497580"/>
            <a:ext cx="1920240" cy="260604"/>
          </a:xfrm>
          <a:prstGeom prst="rect">
            <a:avLst/>
          </a:prstGeom>
          <a:solidFill>
            <a:srgbClr val="F1F7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8887036" name="Shape 25"/>
          <p:cNvSpPr/>
          <p:nvPr/>
        </p:nvSpPr>
        <p:spPr bwMode="auto">
          <a:xfrm>
            <a:off x="310896" y="3557016"/>
            <a:ext cx="256032" cy="1417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2763212" name="Text 26"/>
          <p:cNvSpPr/>
          <p:nvPr/>
        </p:nvSpPr>
        <p:spPr bwMode="auto">
          <a:xfrm>
            <a:off x="310896" y="3557016"/>
            <a:ext cx="25603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FK</a:t>
            </a:r>
            <a:endParaRPr lang="en-US" sz="650"/>
          </a:p>
        </p:txBody>
      </p:sp>
      <p:sp>
        <p:nvSpPr>
          <p:cNvPr id="1459687153" name="Text 27"/>
          <p:cNvSpPr/>
          <p:nvPr/>
        </p:nvSpPr>
        <p:spPr bwMode="auto">
          <a:xfrm>
            <a:off x="621792" y="3497580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providerId</a:t>
            </a:r>
            <a:endParaRPr lang="en-US" sz="1000"/>
          </a:p>
        </p:txBody>
      </p:sp>
      <p:sp>
        <p:nvSpPr>
          <p:cNvPr id="464864178" name="Shape 28"/>
          <p:cNvSpPr/>
          <p:nvPr/>
        </p:nvSpPr>
        <p:spPr bwMode="auto">
          <a:xfrm>
            <a:off x="274320" y="3758184"/>
            <a:ext cx="192024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5791483" name="Text 29"/>
          <p:cNvSpPr/>
          <p:nvPr/>
        </p:nvSpPr>
        <p:spPr bwMode="auto">
          <a:xfrm>
            <a:off x="621792" y="3758184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title</a:t>
            </a:r>
            <a:endParaRPr lang="en-US" sz="1000"/>
          </a:p>
        </p:txBody>
      </p:sp>
      <p:sp>
        <p:nvSpPr>
          <p:cNvPr id="1356813310" name="Shape 30"/>
          <p:cNvSpPr/>
          <p:nvPr/>
        </p:nvSpPr>
        <p:spPr bwMode="auto">
          <a:xfrm>
            <a:off x="274320" y="4018788"/>
            <a:ext cx="1920240" cy="260604"/>
          </a:xfrm>
          <a:prstGeom prst="rect">
            <a:avLst/>
          </a:prstGeom>
          <a:solidFill>
            <a:srgbClr val="F1F7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80172070" name="Text 31"/>
          <p:cNvSpPr/>
          <p:nvPr/>
        </p:nvSpPr>
        <p:spPr bwMode="auto">
          <a:xfrm>
            <a:off x="621792" y="4018788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price</a:t>
            </a:r>
            <a:endParaRPr lang="en-US" sz="1000"/>
          </a:p>
        </p:txBody>
      </p:sp>
      <p:sp>
        <p:nvSpPr>
          <p:cNvPr id="2125430805" name="Shape 32"/>
          <p:cNvSpPr/>
          <p:nvPr/>
        </p:nvSpPr>
        <p:spPr bwMode="auto">
          <a:xfrm>
            <a:off x="274320" y="4279392"/>
            <a:ext cx="192024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85389768" name="Text 33"/>
          <p:cNvSpPr/>
          <p:nvPr/>
        </p:nvSpPr>
        <p:spPr bwMode="auto">
          <a:xfrm>
            <a:off x="621792" y="4279392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imageUrl</a:t>
            </a:r>
            <a:endParaRPr lang="en-US" sz="1000"/>
          </a:p>
        </p:txBody>
      </p:sp>
      <p:sp>
        <p:nvSpPr>
          <p:cNvPr id="2111335375" name="Shape 34"/>
          <p:cNvSpPr/>
          <p:nvPr/>
        </p:nvSpPr>
        <p:spPr bwMode="auto">
          <a:xfrm>
            <a:off x="2423160" y="2944368"/>
            <a:ext cx="1920240" cy="2926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448883" name="Text 35"/>
          <p:cNvSpPr/>
          <p:nvPr/>
        </p:nvSpPr>
        <p:spPr bwMode="auto">
          <a:xfrm>
            <a:off x="2423160" y="29443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RESERVATION</a:t>
            </a:r>
            <a:endParaRPr lang="en-US" sz="1100"/>
          </a:p>
        </p:txBody>
      </p:sp>
      <p:sp>
        <p:nvSpPr>
          <p:cNvPr id="210059247" name="Shape 36"/>
          <p:cNvSpPr/>
          <p:nvPr/>
        </p:nvSpPr>
        <p:spPr bwMode="auto">
          <a:xfrm>
            <a:off x="2423160" y="2944368"/>
            <a:ext cx="1920240" cy="1595628"/>
          </a:xfrm>
          <a:prstGeom prst="rect">
            <a:avLst/>
          </a:prstGeom>
          <a:solidFill>
            <a:srgbClr val="000000">
              <a:alpha val="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3240700" name="Shape 37"/>
          <p:cNvSpPr/>
          <p:nvPr/>
        </p:nvSpPr>
        <p:spPr bwMode="auto">
          <a:xfrm>
            <a:off x="2423160" y="3236976"/>
            <a:ext cx="192024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17047280" name="Shape 38"/>
          <p:cNvSpPr/>
          <p:nvPr/>
        </p:nvSpPr>
        <p:spPr bwMode="auto">
          <a:xfrm>
            <a:off x="2459735" y="3296411"/>
            <a:ext cx="256032" cy="1417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4651938" name="Text 39"/>
          <p:cNvSpPr/>
          <p:nvPr/>
        </p:nvSpPr>
        <p:spPr bwMode="auto">
          <a:xfrm>
            <a:off x="2459735" y="3296411"/>
            <a:ext cx="25603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PK</a:t>
            </a:r>
            <a:endParaRPr lang="en-US" sz="650"/>
          </a:p>
        </p:txBody>
      </p:sp>
      <p:sp>
        <p:nvSpPr>
          <p:cNvPr id="1486795082" name="Text 40"/>
          <p:cNvSpPr/>
          <p:nvPr/>
        </p:nvSpPr>
        <p:spPr bwMode="auto">
          <a:xfrm>
            <a:off x="2770632" y="3236976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id</a:t>
            </a:r>
            <a:endParaRPr lang="en-US" sz="1000"/>
          </a:p>
        </p:txBody>
      </p:sp>
      <p:sp>
        <p:nvSpPr>
          <p:cNvPr id="1119979419" name="Shape 41"/>
          <p:cNvSpPr/>
          <p:nvPr/>
        </p:nvSpPr>
        <p:spPr bwMode="auto">
          <a:xfrm>
            <a:off x="2423160" y="3497580"/>
            <a:ext cx="1920240" cy="260604"/>
          </a:xfrm>
          <a:prstGeom prst="rect">
            <a:avLst/>
          </a:prstGeom>
          <a:solidFill>
            <a:srgbClr val="F1F7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3622330" name="Shape 42"/>
          <p:cNvSpPr/>
          <p:nvPr/>
        </p:nvSpPr>
        <p:spPr bwMode="auto">
          <a:xfrm>
            <a:off x="2459735" y="3557016"/>
            <a:ext cx="256032" cy="1417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50794383" name="Text 43"/>
          <p:cNvSpPr/>
          <p:nvPr/>
        </p:nvSpPr>
        <p:spPr bwMode="auto">
          <a:xfrm>
            <a:off x="2459735" y="3557016"/>
            <a:ext cx="25603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FK</a:t>
            </a:r>
            <a:endParaRPr lang="en-US" sz="650"/>
          </a:p>
        </p:txBody>
      </p:sp>
      <p:sp>
        <p:nvSpPr>
          <p:cNvPr id="2136492079" name="Text 44"/>
          <p:cNvSpPr/>
          <p:nvPr/>
        </p:nvSpPr>
        <p:spPr bwMode="auto">
          <a:xfrm>
            <a:off x="2770632" y="3497580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seekerId</a:t>
            </a:r>
            <a:endParaRPr lang="en-US" sz="1000"/>
          </a:p>
        </p:txBody>
      </p:sp>
      <p:sp>
        <p:nvSpPr>
          <p:cNvPr id="1597050054" name="Shape 45"/>
          <p:cNvSpPr/>
          <p:nvPr/>
        </p:nvSpPr>
        <p:spPr bwMode="auto">
          <a:xfrm>
            <a:off x="2423160" y="3758184"/>
            <a:ext cx="192024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3743287" name="Shape 46"/>
          <p:cNvSpPr/>
          <p:nvPr/>
        </p:nvSpPr>
        <p:spPr bwMode="auto">
          <a:xfrm>
            <a:off x="2459735" y="3817620"/>
            <a:ext cx="256032" cy="1417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48610803" name="Text 47"/>
          <p:cNvSpPr/>
          <p:nvPr/>
        </p:nvSpPr>
        <p:spPr bwMode="auto">
          <a:xfrm>
            <a:off x="2459735" y="3817620"/>
            <a:ext cx="256032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6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FK</a:t>
            </a:r>
            <a:endParaRPr lang="en-US" sz="650"/>
          </a:p>
        </p:txBody>
      </p:sp>
      <p:sp>
        <p:nvSpPr>
          <p:cNvPr id="1468090554" name="Text 48"/>
          <p:cNvSpPr/>
          <p:nvPr/>
        </p:nvSpPr>
        <p:spPr bwMode="auto">
          <a:xfrm>
            <a:off x="2770632" y="3758184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listingId</a:t>
            </a:r>
            <a:endParaRPr lang="en-US" sz="1000"/>
          </a:p>
        </p:txBody>
      </p:sp>
      <p:sp>
        <p:nvSpPr>
          <p:cNvPr id="580403084" name="Shape 49"/>
          <p:cNvSpPr/>
          <p:nvPr/>
        </p:nvSpPr>
        <p:spPr bwMode="auto">
          <a:xfrm>
            <a:off x="2423160" y="4018788"/>
            <a:ext cx="1920240" cy="260604"/>
          </a:xfrm>
          <a:prstGeom prst="rect">
            <a:avLst/>
          </a:prstGeom>
          <a:solidFill>
            <a:srgbClr val="F1F7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32609400" name="Text 50"/>
          <p:cNvSpPr/>
          <p:nvPr/>
        </p:nvSpPr>
        <p:spPr bwMode="auto">
          <a:xfrm>
            <a:off x="2770632" y="4018788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status</a:t>
            </a:r>
            <a:endParaRPr lang="en-US" sz="1000"/>
          </a:p>
        </p:txBody>
      </p:sp>
      <p:sp>
        <p:nvSpPr>
          <p:cNvPr id="1810330836" name="Shape 51"/>
          <p:cNvSpPr/>
          <p:nvPr/>
        </p:nvSpPr>
        <p:spPr bwMode="auto">
          <a:xfrm>
            <a:off x="2423160" y="4279392"/>
            <a:ext cx="1920240" cy="2606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750294" name="Text 52"/>
          <p:cNvSpPr/>
          <p:nvPr/>
        </p:nvSpPr>
        <p:spPr bwMode="auto">
          <a:xfrm>
            <a:off x="2770632" y="4279392"/>
            <a:ext cx="153619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timestamp</a:t>
            </a:r>
            <a:endParaRPr lang="en-US" sz="1000"/>
          </a:p>
        </p:txBody>
      </p:sp>
      <p:sp>
        <p:nvSpPr>
          <p:cNvPr id="108593223" name="Shape 53"/>
          <p:cNvSpPr/>
          <p:nvPr/>
        </p:nvSpPr>
        <p:spPr bwMode="auto">
          <a:xfrm>
            <a:off x="1234440" y="2505456"/>
            <a:ext cx="0" cy="43891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88203782" name="Text 54"/>
          <p:cNvSpPr/>
          <p:nvPr/>
        </p:nvSpPr>
        <p:spPr bwMode="auto">
          <a:xfrm>
            <a:off x="1280160" y="2523744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1</a:t>
            </a:r>
            <a:endParaRPr lang="en-US" sz="900"/>
          </a:p>
        </p:txBody>
      </p:sp>
      <p:sp>
        <p:nvSpPr>
          <p:cNvPr id="1018838375" name="Text 55"/>
          <p:cNvSpPr/>
          <p:nvPr/>
        </p:nvSpPr>
        <p:spPr bwMode="auto">
          <a:xfrm>
            <a:off x="1280160" y="2743200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N</a:t>
            </a:r>
            <a:endParaRPr lang="en-US" sz="900"/>
          </a:p>
        </p:txBody>
      </p:sp>
      <p:sp>
        <p:nvSpPr>
          <p:cNvPr id="2080706919" name="Shape 56"/>
          <p:cNvSpPr/>
          <p:nvPr/>
        </p:nvSpPr>
        <p:spPr bwMode="auto">
          <a:xfrm>
            <a:off x="2194560" y="1837944"/>
            <a:ext cx="11887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416194065" name="Shape 57"/>
          <p:cNvSpPr/>
          <p:nvPr/>
        </p:nvSpPr>
        <p:spPr bwMode="auto">
          <a:xfrm>
            <a:off x="3383280" y="1837944"/>
            <a:ext cx="0" cy="1106424"/>
          </a:xfrm>
          <a:prstGeom prst="line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1251401608" name="Text 58"/>
          <p:cNvSpPr/>
          <p:nvPr/>
        </p:nvSpPr>
        <p:spPr bwMode="auto">
          <a:xfrm>
            <a:off x="2240280" y="1673352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1</a:t>
            </a:r>
            <a:endParaRPr lang="en-US" sz="800"/>
          </a:p>
        </p:txBody>
      </p:sp>
      <p:sp>
        <p:nvSpPr>
          <p:cNvPr id="939199862" name="Text 59"/>
          <p:cNvSpPr/>
          <p:nvPr/>
        </p:nvSpPr>
        <p:spPr bwMode="auto">
          <a:xfrm>
            <a:off x="3429000" y="2761488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F59E0B"/>
                </a:solidFill>
                <a:latin typeface="Calibri"/>
                <a:ea typeface="Calibri"/>
                <a:cs typeface="Calibri"/>
              </a:rPr>
              <a:t>N</a:t>
            </a:r>
            <a:endParaRPr lang="en-US" sz="800"/>
          </a:p>
        </p:txBody>
      </p:sp>
      <p:sp>
        <p:nvSpPr>
          <p:cNvPr id="705887208" name="Shape 60"/>
          <p:cNvSpPr/>
          <p:nvPr/>
        </p:nvSpPr>
        <p:spPr bwMode="auto">
          <a:xfrm>
            <a:off x="2194560" y="3497580"/>
            <a:ext cx="228600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382004003" name="Text 61"/>
          <p:cNvSpPr/>
          <p:nvPr/>
        </p:nvSpPr>
        <p:spPr bwMode="auto">
          <a:xfrm>
            <a:off x="2231136" y="333298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1</a:t>
            </a:r>
            <a:endParaRPr lang="en-US" sz="800"/>
          </a:p>
        </p:txBody>
      </p:sp>
      <p:sp>
        <p:nvSpPr>
          <p:cNvPr id="1788497860" name="Text 62"/>
          <p:cNvSpPr/>
          <p:nvPr/>
        </p:nvSpPr>
        <p:spPr bwMode="auto">
          <a:xfrm>
            <a:off x="2221992" y="3332988"/>
            <a:ext cx="18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N</a:t>
            </a:r>
            <a:endParaRPr lang="en-US" sz="800"/>
          </a:p>
        </p:txBody>
      </p:sp>
      <p:sp>
        <p:nvSpPr>
          <p:cNvPr id="642008728" name="Text 63"/>
          <p:cNvSpPr/>
          <p:nvPr/>
        </p:nvSpPr>
        <p:spPr bwMode="auto">
          <a:xfrm>
            <a:off x="4709160" y="868680"/>
            <a:ext cx="416051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MVVM ARCHITECTURE</a:t>
            </a:r>
            <a:endParaRPr lang="en-US" sz="950"/>
          </a:p>
        </p:txBody>
      </p:sp>
      <p:sp>
        <p:nvSpPr>
          <p:cNvPr id="1994948499" name="Shape 64"/>
          <p:cNvSpPr/>
          <p:nvPr/>
        </p:nvSpPr>
        <p:spPr bwMode="auto">
          <a:xfrm>
            <a:off x="4709160" y="1170432"/>
            <a:ext cx="4160519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3155093" name="Shape 65"/>
          <p:cNvSpPr/>
          <p:nvPr/>
        </p:nvSpPr>
        <p:spPr bwMode="auto">
          <a:xfrm>
            <a:off x="4709160" y="117043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9167940" name="Shape 66"/>
          <p:cNvSpPr/>
          <p:nvPr/>
        </p:nvSpPr>
        <p:spPr bwMode="auto">
          <a:xfrm>
            <a:off x="4818888" y="1307592"/>
            <a:ext cx="347472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1413556" name="Text 67"/>
          <p:cNvSpPr/>
          <p:nvPr/>
        </p:nvSpPr>
        <p:spPr bwMode="auto">
          <a:xfrm>
            <a:off x="4818888" y="13075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UI</a:t>
            </a:r>
            <a:endParaRPr lang="en-US" sz="1000"/>
          </a:p>
        </p:txBody>
      </p:sp>
      <p:sp>
        <p:nvSpPr>
          <p:cNvPr id="875881089" name="Text 68"/>
          <p:cNvSpPr/>
          <p:nvPr/>
        </p:nvSpPr>
        <p:spPr bwMode="auto">
          <a:xfrm>
            <a:off x="5257800" y="12252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UI Layer</a:t>
            </a:r>
            <a:endParaRPr lang="en-US" sz="1300"/>
          </a:p>
        </p:txBody>
      </p:sp>
      <p:sp>
        <p:nvSpPr>
          <p:cNvPr id="1279848842" name="Text 69"/>
          <p:cNvSpPr/>
          <p:nvPr/>
        </p:nvSpPr>
        <p:spPr bwMode="auto">
          <a:xfrm>
            <a:off x="5257800" y="1517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Fragments  ·  XML Layouts  ·  ConstraintLayout</a:t>
            </a:r>
            <a:endParaRPr lang="en-US" sz="1000"/>
          </a:p>
        </p:txBody>
      </p:sp>
      <p:sp>
        <p:nvSpPr>
          <p:cNvPr id="885064713" name="Shape 70"/>
          <p:cNvSpPr/>
          <p:nvPr/>
        </p:nvSpPr>
        <p:spPr bwMode="auto">
          <a:xfrm>
            <a:off x="6784848" y="1828800"/>
            <a:ext cx="0" cy="201168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221022092" name="Shape 71"/>
          <p:cNvSpPr/>
          <p:nvPr/>
        </p:nvSpPr>
        <p:spPr bwMode="auto">
          <a:xfrm>
            <a:off x="6711696" y="1975104"/>
            <a:ext cx="73152" cy="54864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429549228" name="Shape 72"/>
          <p:cNvSpPr/>
          <p:nvPr/>
        </p:nvSpPr>
        <p:spPr bwMode="auto">
          <a:xfrm>
            <a:off x="6784848" y="1975104"/>
            <a:ext cx="73152" cy="54864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463149351" name="Shape 73"/>
          <p:cNvSpPr/>
          <p:nvPr/>
        </p:nvSpPr>
        <p:spPr bwMode="auto">
          <a:xfrm>
            <a:off x="4709160" y="2084832"/>
            <a:ext cx="4160519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30656917" name="Shape 74"/>
          <p:cNvSpPr/>
          <p:nvPr/>
        </p:nvSpPr>
        <p:spPr bwMode="auto">
          <a:xfrm>
            <a:off x="4709160" y="208483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90288097" name="Shape 75"/>
          <p:cNvSpPr/>
          <p:nvPr/>
        </p:nvSpPr>
        <p:spPr bwMode="auto">
          <a:xfrm>
            <a:off x="4818888" y="2221992"/>
            <a:ext cx="347472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5184671" name="Text 76"/>
          <p:cNvSpPr/>
          <p:nvPr/>
        </p:nvSpPr>
        <p:spPr bwMode="auto">
          <a:xfrm>
            <a:off x="4818888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VM</a:t>
            </a:r>
            <a:endParaRPr lang="en-US" sz="1000"/>
          </a:p>
        </p:txBody>
      </p:sp>
      <p:sp>
        <p:nvSpPr>
          <p:cNvPr id="1236021180" name="Text 77"/>
          <p:cNvSpPr/>
          <p:nvPr/>
        </p:nvSpPr>
        <p:spPr bwMode="auto">
          <a:xfrm>
            <a:off x="5257800" y="21396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ViewModel Layer</a:t>
            </a:r>
            <a:endParaRPr lang="en-US" sz="1300"/>
          </a:p>
        </p:txBody>
      </p:sp>
      <p:sp>
        <p:nvSpPr>
          <p:cNvPr id="417795248" name="Text 78"/>
          <p:cNvSpPr/>
          <p:nvPr/>
        </p:nvSpPr>
        <p:spPr bwMode="auto">
          <a:xfrm>
            <a:off x="5257800" y="2432303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ViewModels  ·  StateFlow  ·  LiveData</a:t>
            </a:r>
            <a:endParaRPr lang="en-US" sz="1000"/>
          </a:p>
        </p:txBody>
      </p:sp>
      <p:sp>
        <p:nvSpPr>
          <p:cNvPr id="1493519444" name="Shape 79"/>
          <p:cNvSpPr/>
          <p:nvPr/>
        </p:nvSpPr>
        <p:spPr bwMode="auto">
          <a:xfrm>
            <a:off x="6784848" y="2743200"/>
            <a:ext cx="0" cy="201168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774573182" name="Shape 80"/>
          <p:cNvSpPr/>
          <p:nvPr/>
        </p:nvSpPr>
        <p:spPr bwMode="auto">
          <a:xfrm>
            <a:off x="6711696" y="2889504"/>
            <a:ext cx="73152" cy="54864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095543674" name="Shape 81"/>
          <p:cNvSpPr/>
          <p:nvPr/>
        </p:nvSpPr>
        <p:spPr bwMode="auto">
          <a:xfrm>
            <a:off x="6784848" y="2889504"/>
            <a:ext cx="73152" cy="54864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960031801" name="Shape 82"/>
          <p:cNvSpPr/>
          <p:nvPr/>
        </p:nvSpPr>
        <p:spPr bwMode="auto">
          <a:xfrm>
            <a:off x="4709160" y="2999232"/>
            <a:ext cx="4160519" cy="65836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15564589" name="Shape 83"/>
          <p:cNvSpPr/>
          <p:nvPr/>
        </p:nvSpPr>
        <p:spPr bwMode="auto">
          <a:xfrm>
            <a:off x="4709160" y="299923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59838232" name="Shape 84"/>
          <p:cNvSpPr/>
          <p:nvPr/>
        </p:nvSpPr>
        <p:spPr bwMode="auto">
          <a:xfrm>
            <a:off x="4818888" y="3136392"/>
            <a:ext cx="347472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80681806" name="Text 85"/>
          <p:cNvSpPr/>
          <p:nvPr/>
        </p:nvSpPr>
        <p:spPr bwMode="auto">
          <a:xfrm>
            <a:off x="4818888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</a:t>
            </a:r>
            <a:endParaRPr lang="en-US" sz="1000"/>
          </a:p>
        </p:txBody>
      </p:sp>
      <p:sp>
        <p:nvSpPr>
          <p:cNvPr id="1066625567" name="Text 86"/>
          <p:cNvSpPr/>
          <p:nvPr/>
        </p:nvSpPr>
        <p:spPr bwMode="auto">
          <a:xfrm>
            <a:off x="5257800" y="30540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Repository</a:t>
            </a:r>
            <a:endParaRPr lang="en-US" sz="1300"/>
          </a:p>
        </p:txBody>
      </p:sp>
      <p:sp>
        <p:nvSpPr>
          <p:cNvPr id="249352964" name="Text 87"/>
          <p:cNvSpPr/>
          <p:nvPr/>
        </p:nvSpPr>
        <p:spPr bwMode="auto">
          <a:xfrm>
            <a:off x="5257800" y="33467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ListingRepository  ·  UserRepository</a:t>
            </a:r>
            <a:endParaRPr lang="en-US" sz="1000"/>
          </a:p>
        </p:txBody>
      </p:sp>
      <p:sp>
        <p:nvSpPr>
          <p:cNvPr id="2103826416" name="Shape 88"/>
          <p:cNvSpPr/>
          <p:nvPr/>
        </p:nvSpPr>
        <p:spPr bwMode="auto">
          <a:xfrm>
            <a:off x="6784848" y="3657600"/>
            <a:ext cx="0" cy="201168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737383659" name="Shape 89"/>
          <p:cNvSpPr/>
          <p:nvPr/>
        </p:nvSpPr>
        <p:spPr bwMode="auto">
          <a:xfrm>
            <a:off x="6711696" y="3803904"/>
            <a:ext cx="73152" cy="54864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807237702" name="Shape 90"/>
          <p:cNvSpPr/>
          <p:nvPr/>
        </p:nvSpPr>
        <p:spPr bwMode="auto">
          <a:xfrm>
            <a:off x="6784848" y="3803904"/>
            <a:ext cx="73152" cy="54864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117060697" name="Shape 91"/>
          <p:cNvSpPr/>
          <p:nvPr/>
        </p:nvSpPr>
        <p:spPr bwMode="auto">
          <a:xfrm>
            <a:off x="4709160" y="3913632"/>
            <a:ext cx="4160519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90294466" name="Shape 92"/>
          <p:cNvSpPr/>
          <p:nvPr/>
        </p:nvSpPr>
        <p:spPr bwMode="auto">
          <a:xfrm>
            <a:off x="4709160" y="3913632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56241507" name="Shape 93"/>
          <p:cNvSpPr/>
          <p:nvPr/>
        </p:nvSpPr>
        <p:spPr bwMode="auto">
          <a:xfrm>
            <a:off x="4818888" y="4050792"/>
            <a:ext cx="347472" cy="347472"/>
          </a:xfrm>
          <a:prstGeom prst="rect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34454087" name="Text 94"/>
          <p:cNvSpPr/>
          <p:nvPr/>
        </p:nvSpPr>
        <p:spPr bwMode="auto">
          <a:xfrm>
            <a:off x="4818888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DB</a:t>
            </a:r>
            <a:endParaRPr lang="en-US" sz="1000"/>
          </a:p>
        </p:txBody>
      </p:sp>
      <p:sp>
        <p:nvSpPr>
          <p:cNvPr id="610022315" name="Text 95"/>
          <p:cNvSpPr/>
          <p:nvPr/>
        </p:nvSpPr>
        <p:spPr bwMode="auto">
          <a:xfrm>
            <a:off x="5257800" y="39684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Data Source (Room)</a:t>
            </a:r>
            <a:endParaRPr lang="en-US" sz="1300"/>
          </a:p>
        </p:txBody>
      </p:sp>
      <p:sp>
        <p:nvSpPr>
          <p:cNvPr id="1434789627" name="Text 96"/>
          <p:cNvSpPr/>
          <p:nvPr/>
        </p:nvSpPr>
        <p:spPr bwMode="auto">
          <a:xfrm>
            <a:off x="5257800" y="42611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CCFBF1"/>
                </a:solidFill>
                <a:latin typeface="Calibri"/>
                <a:ea typeface="Calibri"/>
                <a:cs typeface="Calibri"/>
              </a:rPr>
              <a:t>DAOs  ·  Entities  ·  SQLite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372628" name="Shape 0"/>
          <p:cNvSpPr/>
          <p:nvPr/>
        </p:nvSpPr>
        <p:spPr bwMode="auto"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9847079" name="Text 1"/>
          <p:cNvSpPr/>
          <p:nvPr/>
        </p:nvSpPr>
        <p:spPr bwMode="auto">
          <a:xfrm>
            <a:off x="164592" y="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D9488"/>
                </a:solidFill>
                <a:latin typeface="Georgia"/>
                <a:ea typeface="Georgia"/>
                <a:cs typeface="Georgia"/>
              </a:rPr>
              <a:t>04</a:t>
            </a:r>
            <a:endParaRPr lang="en-US" sz="2600"/>
          </a:p>
        </p:txBody>
      </p:sp>
      <p:sp>
        <p:nvSpPr>
          <p:cNvPr id="676137047" name="Text 2"/>
          <p:cNvSpPr/>
          <p:nvPr/>
        </p:nvSpPr>
        <p:spPr bwMode="auto">
          <a:xfrm>
            <a:off x="82296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Data Management &amp; Software Stack</a:t>
            </a:r>
            <a:endParaRPr lang="en-US" sz="2400"/>
          </a:p>
        </p:txBody>
      </p:sp>
      <p:sp>
        <p:nvSpPr>
          <p:cNvPr id="1358532080" name="Shape 3"/>
          <p:cNvSpPr/>
          <p:nvPr/>
        </p:nvSpPr>
        <p:spPr bwMode="auto">
          <a:xfrm>
            <a:off x="274320" y="841248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59598017" name="Shape 4"/>
          <p:cNvSpPr/>
          <p:nvPr/>
        </p:nvSpPr>
        <p:spPr bwMode="auto">
          <a:xfrm>
            <a:off x="274320" y="841248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46363127" name="Text 5"/>
          <p:cNvSpPr/>
          <p:nvPr/>
        </p:nvSpPr>
        <p:spPr bwMode="auto">
          <a:xfrm>
            <a:off x="384048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Georgia"/>
                <a:ea typeface="Georgia"/>
                <a:cs typeface="Georgia"/>
              </a:rPr>
              <a:t>Coil</a:t>
            </a:r>
            <a:endParaRPr lang="en-US" sz="1400"/>
          </a:p>
        </p:txBody>
      </p:sp>
      <p:sp>
        <p:nvSpPr>
          <p:cNvPr id="736893795" name="Text 6"/>
          <p:cNvSpPr/>
          <p:nvPr/>
        </p:nvSpPr>
        <p:spPr bwMode="auto">
          <a:xfrm>
            <a:off x="384048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Lifecycle-aware async image loading</a:t>
            </a:r>
            <a:endParaRPr lang="en-US" sz="1000"/>
          </a:p>
        </p:txBody>
      </p:sp>
      <p:sp>
        <p:nvSpPr>
          <p:cNvPr id="392687176" name="Text 7"/>
          <p:cNvSpPr/>
          <p:nvPr/>
        </p:nvSpPr>
        <p:spPr bwMode="auto">
          <a:xfrm>
            <a:off x="384048" y="14447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i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coil-kt.github.io/coil</a:t>
            </a:r>
            <a:endParaRPr lang="en-US" sz="850"/>
          </a:p>
        </p:txBody>
      </p:sp>
      <p:sp>
        <p:nvSpPr>
          <p:cNvPr id="447036795" name="Shape 8"/>
          <p:cNvSpPr/>
          <p:nvPr/>
        </p:nvSpPr>
        <p:spPr bwMode="auto">
          <a:xfrm>
            <a:off x="3200400" y="841248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0971042" name="Shape 9"/>
          <p:cNvSpPr/>
          <p:nvPr/>
        </p:nvSpPr>
        <p:spPr bwMode="auto">
          <a:xfrm>
            <a:off x="3200400" y="841248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12277640" name="Text 10"/>
          <p:cNvSpPr/>
          <p:nvPr/>
        </p:nvSpPr>
        <p:spPr bwMode="auto">
          <a:xfrm>
            <a:off x="3310127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Georgia"/>
                <a:ea typeface="Georgia"/>
                <a:cs typeface="Georgia"/>
              </a:rPr>
              <a:t>Room DB</a:t>
            </a:r>
            <a:endParaRPr lang="en-US" sz="1400"/>
          </a:p>
        </p:txBody>
      </p:sp>
      <p:sp>
        <p:nvSpPr>
          <p:cNvPr id="431263003" name="Text 11"/>
          <p:cNvSpPr/>
          <p:nvPr/>
        </p:nvSpPr>
        <p:spPr bwMode="auto">
          <a:xfrm>
            <a:off x="3310127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Offline-first local data persistence</a:t>
            </a:r>
            <a:endParaRPr lang="en-US" sz="1000"/>
          </a:p>
        </p:txBody>
      </p:sp>
      <p:sp>
        <p:nvSpPr>
          <p:cNvPr id="395212036" name="Text 12"/>
          <p:cNvSpPr/>
          <p:nvPr/>
        </p:nvSpPr>
        <p:spPr bwMode="auto">
          <a:xfrm>
            <a:off x="3310127" y="14447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i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developer.android.com/room</a:t>
            </a:r>
            <a:endParaRPr lang="en-US" sz="850"/>
          </a:p>
        </p:txBody>
      </p:sp>
      <p:sp>
        <p:nvSpPr>
          <p:cNvPr id="347851350" name="Shape 13"/>
          <p:cNvSpPr/>
          <p:nvPr/>
        </p:nvSpPr>
        <p:spPr bwMode="auto">
          <a:xfrm>
            <a:off x="6126480" y="841248"/>
            <a:ext cx="2697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36900857" name="Shape 14"/>
          <p:cNvSpPr/>
          <p:nvPr/>
        </p:nvSpPr>
        <p:spPr bwMode="auto">
          <a:xfrm>
            <a:off x="6126480" y="841248"/>
            <a:ext cx="269748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5874289" name="Text 15"/>
          <p:cNvSpPr/>
          <p:nvPr/>
        </p:nvSpPr>
        <p:spPr bwMode="auto">
          <a:xfrm>
            <a:off x="6236208" y="914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400" b="1">
                <a:solidFill>
                  <a:srgbClr val="1E293B"/>
                </a:solidFill>
                <a:latin typeface="Georgia"/>
                <a:ea typeface="Georgia"/>
                <a:cs typeface="Georgia"/>
              </a:rPr>
              <a:t>Navigation</a:t>
            </a:r>
            <a:endParaRPr lang="en-US" sz="1400"/>
          </a:p>
        </p:txBody>
      </p:sp>
      <p:sp>
        <p:nvSpPr>
          <p:cNvPr id="372139156" name="Text 16"/>
          <p:cNvSpPr/>
          <p:nvPr/>
        </p:nvSpPr>
        <p:spPr bwMode="auto">
          <a:xfrm>
            <a:off x="6236208" y="11887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Type-safe fragment transitions</a:t>
            </a:r>
            <a:endParaRPr lang="en-US" sz="1000"/>
          </a:p>
        </p:txBody>
      </p:sp>
      <p:sp>
        <p:nvSpPr>
          <p:cNvPr id="1434722418" name="Text 17"/>
          <p:cNvSpPr/>
          <p:nvPr/>
        </p:nvSpPr>
        <p:spPr bwMode="auto">
          <a:xfrm>
            <a:off x="6236208" y="144475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850" i="1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Jetpack Navigation Component</a:t>
            </a:r>
            <a:endParaRPr lang="en-US" sz="850"/>
          </a:p>
        </p:txBody>
      </p:sp>
      <p:sp>
        <p:nvSpPr>
          <p:cNvPr id="146428095" name="Text 18"/>
          <p:cNvSpPr/>
          <p:nvPr/>
        </p:nvSpPr>
        <p:spPr bwMode="auto">
          <a:xfrm>
            <a:off x="274320" y="176479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SEQUENCE DIAGRAM  —  Listing Load Flow</a:t>
            </a:r>
            <a:endParaRPr lang="en-US" sz="950"/>
          </a:p>
        </p:txBody>
      </p:sp>
      <p:sp>
        <p:nvSpPr>
          <p:cNvPr id="1111671646" name="Shape 19"/>
          <p:cNvSpPr/>
          <p:nvPr/>
        </p:nvSpPr>
        <p:spPr bwMode="auto">
          <a:xfrm>
            <a:off x="-320040" y="2057400"/>
            <a:ext cx="16459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3120821" name="Text 20"/>
          <p:cNvSpPr/>
          <p:nvPr/>
        </p:nvSpPr>
        <p:spPr bwMode="auto">
          <a:xfrm>
            <a:off x="-320040" y="20574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ListingListFragment</a:t>
            </a:r>
            <a:endParaRPr lang="en-US" sz="900"/>
          </a:p>
        </p:txBody>
      </p:sp>
      <p:sp>
        <p:nvSpPr>
          <p:cNvPr id="1317489246" name="Shape 21"/>
          <p:cNvSpPr/>
          <p:nvPr/>
        </p:nvSpPr>
        <p:spPr bwMode="auto">
          <a:xfrm>
            <a:off x="502920" y="2459735"/>
            <a:ext cx="0" cy="2496312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453915675" name="Shape 22"/>
          <p:cNvSpPr/>
          <p:nvPr/>
        </p:nvSpPr>
        <p:spPr bwMode="auto">
          <a:xfrm>
            <a:off x="438912" y="2459735"/>
            <a:ext cx="128016" cy="2496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506178" name="Shape 23"/>
          <p:cNvSpPr/>
          <p:nvPr/>
        </p:nvSpPr>
        <p:spPr bwMode="auto">
          <a:xfrm>
            <a:off x="1965960" y="2057400"/>
            <a:ext cx="16459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5847809" name="Text 24"/>
          <p:cNvSpPr/>
          <p:nvPr/>
        </p:nvSpPr>
        <p:spPr bwMode="auto">
          <a:xfrm>
            <a:off x="1965960" y="20574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ListingViewModel</a:t>
            </a:r>
            <a:endParaRPr lang="en-US" sz="900"/>
          </a:p>
        </p:txBody>
      </p:sp>
      <p:sp>
        <p:nvSpPr>
          <p:cNvPr id="2140938385" name="Shape 25"/>
          <p:cNvSpPr/>
          <p:nvPr/>
        </p:nvSpPr>
        <p:spPr bwMode="auto">
          <a:xfrm>
            <a:off x="2788920" y="2459735"/>
            <a:ext cx="0" cy="2496312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025518661" name="Shape 26"/>
          <p:cNvSpPr/>
          <p:nvPr/>
        </p:nvSpPr>
        <p:spPr bwMode="auto">
          <a:xfrm>
            <a:off x="2724911" y="2459735"/>
            <a:ext cx="128016" cy="2496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84446244" name="Shape 27"/>
          <p:cNvSpPr/>
          <p:nvPr/>
        </p:nvSpPr>
        <p:spPr bwMode="auto">
          <a:xfrm>
            <a:off x="4480560" y="2057400"/>
            <a:ext cx="16459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78044664" name="Text 28"/>
          <p:cNvSpPr/>
          <p:nvPr/>
        </p:nvSpPr>
        <p:spPr bwMode="auto">
          <a:xfrm>
            <a:off x="4480560" y="20574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ListingRepository</a:t>
            </a:r>
            <a:endParaRPr lang="en-US" sz="900"/>
          </a:p>
        </p:txBody>
      </p:sp>
      <p:sp>
        <p:nvSpPr>
          <p:cNvPr id="1477561324" name="Shape 29"/>
          <p:cNvSpPr/>
          <p:nvPr/>
        </p:nvSpPr>
        <p:spPr bwMode="auto">
          <a:xfrm>
            <a:off x="5303520" y="2459735"/>
            <a:ext cx="0" cy="2496312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306156124" name="Shape 30"/>
          <p:cNvSpPr/>
          <p:nvPr/>
        </p:nvSpPr>
        <p:spPr bwMode="auto">
          <a:xfrm>
            <a:off x="5239512" y="2459735"/>
            <a:ext cx="128016" cy="2496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2795522" name="Shape 31"/>
          <p:cNvSpPr/>
          <p:nvPr/>
        </p:nvSpPr>
        <p:spPr bwMode="auto">
          <a:xfrm>
            <a:off x="6766560" y="2057400"/>
            <a:ext cx="1645920" cy="402336"/>
          </a:xfrm>
          <a:prstGeom prst="rect">
            <a:avLst/>
          </a:prstGeom>
          <a:solidFill>
            <a:srgbClr val="0D1B2A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071883" name="Text 32"/>
          <p:cNvSpPr/>
          <p:nvPr/>
        </p:nvSpPr>
        <p:spPr bwMode="auto">
          <a:xfrm>
            <a:off x="6766560" y="2057400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14B8A6"/>
                </a:solidFill>
                <a:latin typeface="Calibri"/>
                <a:ea typeface="Calibri"/>
                <a:cs typeface="Calibri"/>
              </a:rPr>
              <a:t>Room (DAO)</a:t>
            </a:r>
            <a:endParaRPr lang="en-US" sz="900"/>
          </a:p>
        </p:txBody>
      </p:sp>
      <p:sp>
        <p:nvSpPr>
          <p:cNvPr id="895338437" name="Shape 33"/>
          <p:cNvSpPr/>
          <p:nvPr/>
        </p:nvSpPr>
        <p:spPr bwMode="auto">
          <a:xfrm>
            <a:off x="7589520" y="2459735"/>
            <a:ext cx="0" cy="2496312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999180226" name="Shape 34"/>
          <p:cNvSpPr/>
          <p:nvPr/>
        </p:nvSpPr>
        <p:spPr bwMode="auto">
          <a:xfrm>
            <a:off x="7525512" y="2459735"/>
            <a:ext cx="128016" cy="249631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85666363" name="Shape 35"/>
          <p:cNvSpPr/>
          <p:nvPr/>
        </p:nvSpPr>
        <p:spPr bwMode="auto">
          <a:xfrm>
            <a:off x="566928" y="2633472"/>
            <a:ext cx="222199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501375480" name="Shape 36"/>
          <p:cNvSpPr/>
          <p:nvPr/>
        </p:nvSpPr>
        <p:spPr bwMode="auto">
          <a:xfrm>
            <a:off x="2724911" y="2569464"/>
            <a:ext cx="91440" cy="6400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590075834" name="Shape 37"/>
          <p:cNvSpPr/>
          <p:nvPr/>
        </p:nvSpPr>
        <p:spPr bwMode="auto">
          <a:xfrm flipH="1" flipV="0">
            <a:off x="2679192" y="2606039"/>
            <a:ext cx="137160" cy="92709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485733154" name="Text 38"/>
          <p:cNvSpPr/>
          <p:nvPr/>
        </p:nvSpPr>
        <p:spPr bwMode="auto">
          <a:xfrm>
            <a:off x="566928" y="2418587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collectLatest { }</a:t>
            </a:r>
            <a:endParaRPr lang="en-US" sz="950"/>
          </a:p>
        </p:txBody>
      </p:sp>
      <p:sp>
        <p:nvSpPr>
          <p:cNvPr id="1056198135" name="Shape 39"/>
          <p:cNvSpPr/>
          <p:nvPr/>
        </p:nvSpPr>
        <p:spPr bwMode="auto">
          <a:xfrm>
            <a:off x="2852928" y="3090672"/>
            <a:ext cx="245059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82518640" name="Shape 40"/>
          <p:cNvSpPr/>
          <p:nvPr/>
        </p:nvSpPr>
        <p:spPr bwMode="auto">
          <a:xfrm>
            <a:off x="5239512" y="3026664"/>
            <a:ext cx="91440" cy="6400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08150436" name="Shape 41"/>
          <p:cNvSpPr/>
          <p:nvPr/>
        </p:nvSpPr>
        <p:spPr bwMode="auto">
          <a:xfrm flipH="1" flipV="0">
            <a:off x="5239511" y="3063240"/>
            <a:ext cx="91439" cy="143509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064340354" name="Text 42"/>
          <p:cNvSpPr/>
          <p:nvPr/>
        </p:nvSpPr>
        <p:spPr bwMode="auto">
          <a:xfrm>
            <a:off x="2898648" y="2880360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getListings(filter)</a:t>
            </a:r>
            <a:endParaRPr lang="en-US" sz="950"/>
          </a:p>
        </p:txBody>
      </p:sp>
      <p:sp>
        <p:nvSpPr>
          <p:cNvPr id="2042690095" name="Shape 43"/>
          <p:cNvSpPr/>
          <p:nvPr/>
        </p:nvSpPr>
        <p:spPr bwMode="auto">
          <a:xfrm>
            <a:off x="5367528" y="3547872"/>
            <a:ext cx="2221992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971722286" name="Shape 44"/>
          <p:cNvSpPr/>
          <p:nvPr/>
        </p:nvSpPr>
        <p:spPr bwMode="auto">
          <a:xfrm>
            <a:off x="7525512" y="3483864"/>
            <a:ext cx="91440" cy="64008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091005207" name="Shape 45"/>
          <p:cNvSpPr/>
          <p:nvPr/>
        </p:nvSpPr>
        <p:spPr bwMode="auto">
          <a:xfrm flipH="0" flipV="1">
            <a:off x="7479792" y="3547872"/>
            <a:ext cx="137160" cy="55752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91340066" name="Text 46"/>
          <p:cNvSpPr/>
          <p:nvPr/>
        </p:nvSpPr>
        <p:spPr bwMode="auto">
          <a:xfrm>
            <a:off x="5413248" y="333756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0D9488"/>
                </a:solidFill>
                <a:latin typeface="Consolas"/>
                <a:ea typeface="Consolas"/>
                <a:cs typeface="Consolas"/>
              </a:rPr>
              <a:t>dao.getAll()</a:t>
            </a:r>
            <a:endParaRPr lang="en-US" sz="950"/>
          </a:p>
        </p:txBody>
      </p:sp>
      <p:sp>
        <p:nvSpPr>
          <p:cNvPr id="1792231260" name="Shape 47"/>
          <p:cNvSpPr/>
          <p:nvPr/>
        </p:nvSpPr>
        <p:spPr bwMode="auto">
          <a:xfrm>
            <a:off x="5303520" y="4005072"/>
            <a:ext cx="222199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782855967" name="Shape 48"/>
          <p:cNvSpPr/>
          <p:nvPr/>
        </p:nvSpPr>
        <p:spPr bwMode="auto">
          <a:xfrm>
            <a:off x="5367528" y="3941064"/>
            <a:ext cx="0" cy="6400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277557989" name="Shape 49"/>
          <p:cNvSpPr/>
          <p:nvPr/>
        </p:nvSpPr>
        <p:spPr bwMode="auto">
          <a:xfrm>
            <a:off x="5367528" y="4069080"/>
            <a:ext cx="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115165287" name="Text 50"/>
          <p:cNvSpPr/>
          <p:nvPr/>
        </p:nvSpPr>
        <p:spPr bwMode="auto">
          <a:xfrm>
            <a:off x="5413248" y="3794760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Flow&lt;List&lt;Listing&gt;&gt;</a:t>
            </a:r>
            <a:endParaRPr lang="en-US" sz="950"/>
          </a:p>
        </p:txBody>
      </p:sp>
      <p:sp>
        <p:nvSpPr>
          <p:cNvPr id="1572360467" name="Shape 51"/>
          <p:cNvSpPr/>
          <p:nvPr/>
        </p:nvSpPr>
        <p:spPr bwMode="auto">
          <a:xfrm>
            <a:off x="2788920" y="4370832"/>
            <a:ext cx="245059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364710209" name="Shape 52"/>
          <p:cNvSpPr/>
          <p:nvPr/>
        </p:nvSpPr>
        <p:spPr bwMode="auto">
          <a:xfrm>
            <a:off x="2852928" y="4306824"/>
            <a:ext cx="0" cy="6400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40887657" name="Shape 53"/>
          <p:cNvSpPr/>
          <p:nvPr/>
        </p:nvSpPr>
        <p:spPr bwMode="auto">
          <a:xfrm>
            <a:off x="2852928" y="4434840"/>
            <a:ext cx="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105230622" name="Text 54"/>
          <p:cNvSpPr/>
          <p:nvPr/>
        </p:nvSpPr>
        <p:spPr bwMode="auto">
          <a:xfrm>
            <a:off x="2898648" y="4160519"/>
            <a:ext cx="2295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emit(listings)</a:t>
            </a:r>
            <a:endParaRPr lang="en-US" sz="950"/>
          </a:p>
        </p:txBody>
      </p:sp>
      <p:sp>
        <p:nvSpPr>
          <p:cNvPr id="1224762" name="Shape 55"/>
          <p:cNvSpPr/>
          <p:nvPr/>
        </p:nvSpPr>
        <p:spPr bwMode="auto">
          <a:xfrm>
            <a:off x="502920" y="4773168"/>
            <a:ext cx="222199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ysDash"/>
          </a:ln>
        </p:spPr>
      </p:sp>
      <p:sp>
        <p:nvSpPr>
          <p:cNvPr id="133321754" name="Shape 56"/>
          <p:cNvSpPr/>
          <p:nvPr/>
        </p:nvSpPr>
        <p:spPr bwMode="auto">
          <a:xfrm>
            <a:off x="566928" y="4709160"/>
            <a:ext cx="0" cy="6400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239188584" name="Shape 57"/>
          <p:cNvSpPr/>
          <p:nvPr/>
        </p:nvSpPr>
        <p:spPr bwMode="auto">
          <a:xfrm>
            <a:off x="566928" y="4837176"/>
            <a:ext cx="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032820429" name="Text 58"/>
          <p:cNvSpPr/>
          <p:nvPr/>
        </p:nvSpPr>
        <p:spPr bwMode="auto">
          <a:xfrm>
            <a:off x="612648" y="4562856"/>
            <a:ext cx="20665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950">
                <a:solidFill>
                  <a:srgbClr val="F59E0B"/>
                </a:solidFill>
                <a:latin typeface="Consolas"/>
                <a:ea typeface="Consolas"/>
                <a:cs typeface="Consolas"/>
              </a:rPr>
              <a:t>UiState.Success(data)</a:t>
            </a:r>
            <a:endParaRPr lang="en-US" sz="950"/>
          </a:p>
        </p:txBody>
      </p:sp>
      <p:sp>
        <p:nvSpPr>
          <p:cNvPr id="384563413" name="Shape 59"/>
          <p:cNvSpPr/>
          <p:nvPr/>
        </p:nvSpPr>
        <p:spPr bwMode="auto">
          <a:xfrm>
            <a:off x="0" y="4956048"/>
            <a:ext cx="9144000" cy="18745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69929256" name="Text 60"/>
          <p:cNvSpPr/>
          <p:nvPr/>
        </p:nvSpPr>
        <p:spPr bwMode="auto">
          <a:xfrm>
            <a:off x="274320" y="4956048"/>
            <a:ext cx="859536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Requirements:  Android SDK 26+   ·   4 GB RAM   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8FAFC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8803324" name="Shape 0"/>
          <p:cNvSpPr/>
          <p:nvPr/>
        </p:nvSpPr>
        <p:spPr bwMode="auto"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87555163" name="Text 1"/>
          <p:cNvSpPr/>
          <p:nvPr/>
        </p:nvSpPr>
        <p:spPr bwMode="auto">
          <a:xfrm>
            <a:off x="164592" y="0"/>
            <a:ext cx="594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600" b="1">
                <a:solidFill>
                  <a:srgbClr val="0D9488"/>
                </a:solidFill>
                <a:latin typeface="Georgia"/>
                <a:ea typeface="Georgia"/>
                <a:cs typeface="Georgia"/>
              </a:rPr>
              <a:t>05</a:t>
            </a:r>
            <a:endParaRPr lang="en-US" sz="2600"/>
          </a:p>
        </p:txBody>
      </p:sp>
      <p:sp>
        <p:nvSpPr>
          <p:cNvPr id="80432307" name="Text 2"/>
          <p:cNvSpPr/>
          <p:nvPr/>
        </p:nvSpPr>
        <p:spPr bwMode="auto">
          <a:xfrm>
            <a:off x="822960" y="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UI Implementation</a:t>
            </a:r>
            <a:endParaRPr lang="en-US" sz="2400"/>
          </a:p>
        </p:txBody>
      </p:sp>
      <p:pic>
        <p:nvPicPr>
          <p:cNvPr id="776731122" name="Image 0" descr="preencoded.png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65760" y="868680"/>
            <a:ext cx="2325757" cy="4114800"/>
          </a:xfrm>
          <a:prstGeom prst="rect">
            <a:avLst/>
          </a:prstGeom>
        </p:spPr>
      </p:pic>
      <p:sp>
        <p:nvSpPr>
          <p:cNvPr id="940914433" name="Text 3"/>
          <p:cNvSpPr/>
          <p:nvPr/>
        </p:nvSpPr>
        <p:spPr bwMode="auto">
          <a:xfrm>
            <a:off x="365760" y="5020056"/>
            <a:ext cx="23257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fragment_login.xml</a:t>
            </a:r>
            <a:endParaRPr lang="en-US" sz="900"/>
          </a:p>
        </p:txBody>
      </p:sp>
      <p:pic>
        <p:nvPicPr>
          <p:cNvPr id="1225066358" name="Image 1" descr="preencoded.png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3011557" y="868680"/>
            <a:ext cx="2325757" cy="4114800"/>
          </a:xfrm>
          <a:prstGeom prst="rect">
            <a:avLst/>
          </a:prstGeom>
        </p:spPr>
      </p:pic>
      <p:sp>
        <p:nvSpPr>
          <p:cNvPr id="2138926856" name="Text 4"/>
          <p:cNvSpPr/>
          <p:nvPr/>
        </p:nvSpPr>
        <p:spPr bwMode="auto">
          <a:xfrm>
            <a:off x="3011557" y="5020056"/>
            <a:ext cx="2325757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fragment_listing_list.xml</a:t>
            </a:r>
            <a:endParaRPr lang="en-US" sz="900"/>
          </a:p>
        </p:txBody>
      </p:sp>
      <p:sp>
        <p:nvSpPr>
          <p:cNvPr id="1757840115" name="Text 5"/>
          <p:cNvSpPr/>
          <p:nvPr/>
        </p:nvSpPr>
        <p:spPr bwMode="auto">
          <a:xfrm>
            <a:off x="5748793" y="868680"/>
            <a:ext cx="307516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50" b="1" spc="300">
                <a:solidFill>
                  <a:srgbClr val="0D9488"/>
                </a:solidFill>
                <a:latin typeface="Calibri"/>
                <a:ea typeface="Calibri"/>
                <a:cs typeface="Calibri"/>
              </a:rPr>
              <a:t>UI FEATURES</a:t>
            </a:r>
            <a:endParaRPr lang="en-US" sz="950"/>
          </a:p>
        </p:txBody>
      </p:sp>
      <p:sp>
        <p:nvSpPr>
          <p:cNvPr id="373237447" name="Shape 6"/>
          <p:cNvSpPr/>
          <p:nvPr/>
        </p:nvSpPr>
        <p:spPr bwMode="auto">
          <a:xfrm>
            <a:off x="5748793" y="1188720"/>
            <a:ext cx="307516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1404597" name="Shape 7"/>
          <p:cNvSpPr/>
          <p:nvPr/>
        </p:nvSpPr>
        <p:spPr bwMode="auto">
          <a:xfrm>
            <a:off x="5748793" y="1188720"/>
            <a:ext cx="36576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25396386" name="Text 8"/>
          <p:cNvSpPr/>
          <p:nvPr/>
        </p:nvSpPr>
        <p:spPr bwMode="auto">
          <a:xfrm>
            <a:off x="5876809" y="1234440"/>
            <a:ext cx="291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ConstraintLayout</a:t>
            </a:r>
            <a:endParaRPr lang="en-US" sz="1200"/>
          </a:p>
        </p:txBody>
      </p:sp>
      <p:sp>
        <p:nvSpPr>
          <p:cNvPr id="629791313" name="Text 9"/>
          <p:cNvSpPr/>
          <p:nvPr/>
        </p:nvSpPr>
        <p:spPr bwMode="auto">
          <a:xfrm>
            <a:off x="5876809" y="1490472"/>
            <a:ext cx="2910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Flat view hierarchy for optimised rendering</a:t>
            </a:r>
            <a:endParaRPr lang="en-US" sz="1050"/>
          </a:p>
        </p:txBody>
      </p:sp>
      <p:sp>
        <p:nvSpPr>
          <p:cNvPr id="1188721237" name="Shape 10"/>
          <p:cNvSpPr/>
          <p:nvPr/>
        </p:nvSpPr>
        <p:spPr bwMode="auto">
          <a:xfrm>
            <a:off x="5748793" y="1938528"/>
            <a:ext cx="307516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8888278" name="Shape 11"/>
          <p:cNvSpPr/>
          <p:nvPr/>
        </p:nvSpPr>
        <p:spPr bwMode="auto">
          <a:xfrm>
            <a:off x="5748793" y="1938528"/>
            <a:ext cx="3657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47492190" name="Text 12"/>
          <p:cNvSpPr/>
          <p:nvPr/>
        </p:nvSpPr>
        <p:spPr bwMode="auto">
          <a:xfrm>
            <a:off x="5876809" y="1984248"/>
            <a:ext cx="291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Material Chips</a:t>
            </a:r>
            <a:endParaRPr lang="en-US" sz="1200"/>
          </a:p>
        </p:txBody>
      </p:sp>
      <p:sp>
        <p:nvSpPr>
          <p:cNvPr id="1822503316" name="Text 13"/>
          <p:cNvSpPr/>
          <p:nvPr/>
        </p:nvSpPr>
        <p:spPr bwMode="auto">
          <a:xfrm>
            <a:off x="5876809" y="2240280"/>
            <a:ext cx="2910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Real-time filter chips — price, type, distance</a:t>
            </a:r>
            <a:endParaRPr lang="en-US" sz="1050"/>
          </a:p>
        </p:txBody>
      </p:sp>
      <p:sp>
        <p:nvSpPr>
          <p:cNvPr id="67378118" name="Shape 14"/>
          <p:cNvSpPr/>
          <p:nvPr/>
        </p:nvSpPr>
        <p:spPr bwMode="auto">
          <a:xfrm>
            <a:off x="5748793" y="2688336"/>
            <a:ext cx="307516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0931570" name="Shape 15"/>
          <p:cNvSpPr/>
          <p:nvPr/>
        </p:nvSpPr>
        <p:spPr bwMode="auto">
          <a:xfrm>
            <a:off x="5748793" y="2688336"/>
            <a:ext cx="36576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62133429" name="Text 16"/>
          <p:cNvSpPr/>
          <p:nvPr/>
        </p:nvSpPr>
        <p:spPr bwMode="auto">
          <a:xfrm>
            <a:off x="5876809" y="2734056"/>
            <a:ext cx="291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Material Design 3</a:t>
            </a:r>
            <a:endParaRPr lang="en-US" sz="1200"/>
          </a:p>
        </p:txBody>
      </p:sp>
      <p:sp>
        <p:nvSpPr>
          <p:cNvPr id="164094593" name="Text 17"/>
          <p:cNvSpPr/>
          <p:nvPr/>
        </p:nvSpPr>
        <p:spPr bwMode="auto">
          <a:xfrm>
            <a:off x="5876809" y="2990088"/>
            <a:ext cx="2910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Consistent teal palette, accessible typography</a:t>
            </a:r>
            <a:endParaRPr lang="en-US" sz="1050"/>
          </a:p>
        </p:txBody>
      </p:sp>
      <p:sp>
        <p:nvSpPr>
          <p:cNvPr id="760827292" name="Shape 18"/>
          <p:cNvSpPr/>
          <p:nvPr/>
        </p:nvSpPr>
        <p:spPr bwMode="auto">
          <a:xfrm>
            <a:off x="5748793" y="3438144"/>
            <a:ext cx="307516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02689735" name="Shape 19"/>
          <p:cNvSpPr/>
          <p:nvPr/>
        </p:nvSpPr>
        <p:spPr bwMode="auto">
          <a:xfrm>
            <a:off x="5748793" y="3438144"/>
            <a:ext cx="36576" cy="6217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06313921" name="Text 20"/>
          <p:cNvSpPr/>
          <p:nvPr/>
        </p:nvSpPr>
        <p:spPr bwMode="auto">
          <a:xfrm>
            <a:off x="5876809" y="3483864"/>
            <a:ext cx="291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Navigation Component</a:t>
            </a:r>
            <a:endParaRPr lang="en-US" sz="1200"/>
          </a:p>
        </p:txBody>
      </p:sp>
      <p:sp>
        <p:nvSpPr>
          <p:cNvPr id="2075180284" name="Text 21"/>
          <p:cNvSpPr/>
          <p:nvPr/>
        </p:nvSpPr>
        <p:spPr bwMode="auto">
          <a:xfrm>
            <a:off x="5876809" y="3739896"/>
            <a:ext cx="2910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Type-safe fragment transitions, back stack</a:t>
            </a:r>
            <a:endParaRPr lang="en-US" sz="1050"/>
          </a:p>
        </p:txBody>
      </p:sp>
      <p:sp>
        <p:nvSpPr>
          <p:cNvPr id="228602438" name="Shape 22"/>
          <p:cNvSpPr/>
          <p:nvPr/>
        </p:nvSpPr>
        <p:spPr bwMode="auto">
          <a:xfrm>
            <a:off x="5748793" y="4187952"/>
            <a:ext cx="3075166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2631512" name="Shape 23"/>
          <p:cNvSpPr/>
          <p:nvPr/>
        </p:nvSpPr>
        <p:spPr bwMode="auto">
          <a:xfrm>
            <a:off x="5748793" y="4187952"/>
            <a:ext cx="36576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93264886" name="Text 24"/>
          <p:cNvSpPr/>
          <p:nvPr/>
        </p:nvSpPr>
        <p:spPr bwMode="auto">
          <a:xfrm>
            <a:off x="5876809" y="4233672"/>
            <a:ext cx="291057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200" b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Coil Image Loading</a:t>
            </a:r>
            <a:endParaRPr lang="en-US" sz="1200"/>
          </a:p>
        </p:txBody>
      </p:sp>
      <p:sp>
        <p:nvSpPr>
          <p:cNvPr id="140976504" name="Text 25"/>
          <p:cNvSpPr/>
          <p:nvPr/>
        </p:nvSpPr>
        <p:spPr bwMode="auto">
          <a:xfrm>
            <a:off x="5876809" y="4489704"/>
            <a:ext cx="29105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05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Async, lifecycle-aware property photo display</a:t>
            </a:r>
            <a:endParaRPr lang="en-US" sz="105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ONLYOFFICE/9.3.1.8</Application>
  <PresentationFormat>On-screen Show (4:3)</PresentationFormat>
  <Paragraphs>0</Paragraphs>
  <Slides>5</Slides>
  <Notes>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Theme 1</vt:lpstr>
      <vt:lpstr>Slide 1</vt:lpstr>
      <vt:lpstr>Slide 2</vt:lpstr>
      <vt:lpstr>Slide 3</vt:lpstr>
      <vt:lpstr>Slide 4</vt:lpstr>
      <vt:lpstr>Slide 5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HouseFinder – Android Application</dc:title>
  <dc:subject>PptxGenJS Presentation</dc:subject>
  <dc:creator>PptxGenJS</dc:creator>
  <cp:lastModifiedBy/>
  <cp:revision>2</cp:revision>
  <dcterms:created xsi:type="dcterms:W3CDTF">2026-05-26T22:14:26Z</dcterms:created>
  <dcterms:modified xsi:type="dcterms:W3CDTF">2026-05-26T22:19:20Z</dcterms:modified>
</cp:coreProperties>
</file>